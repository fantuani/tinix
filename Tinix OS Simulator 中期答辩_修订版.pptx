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720080" type="screen16x1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2451" y="1143000"/>
            <a:ext cx="493309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762635" rtl="0" eaLnBrk="1" latinLnBrk="0" hangingPunct="1">
        <a:spcBef>
          <a:spcPct val="0"/>
        </a:spcBef>
        <a:buNone/>
        <a:defRPr sz="3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762635" rtl="0" eaLnBrk="1" latinLnBrk="0" hangingPunct="1">
        <a:spcBef>
          <a:spcPts val="80"/>
        </a:spcBef>
        <a:buFont typeface="Arial" panose="020B060402020209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1pPr>
      <a:lvl2pPr marL="619760" indent="-238125" algn="l" defTabSz="762635" rtl="0" eaLnBrk="1" latinLnBrk="0" hangingPunct="1">
        <a:spcBef>
          <a:spcPts val="80"/>
        </a:spcBef>
        <a:buFont typeface="Arial" panose="020B0604020202090204" pitchFamily="34" charset="0"/>
        <a:buChar char="–"/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953135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4770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–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716405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»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097405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6pPr>
      <a:lvl7pPr marL="2479040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7pPr>
      <a:lvl8pPr marL="2860040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8pPr>
      <a:lvl9pPr marL="3241675" indent="-190500" algn="l" defTabSz="762635" rtl="0" eaLnBrk="1" latinLnBrk="0" hangingPunct="1">
        <a:spcBef>
          <a:spcPts val="80"/>
        </a:spcBef>
        <a:buFont typeface="Arial" panose="020B0604020202090204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7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9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/>
          <p:cNvSpPr/>
          <p:nvPr/>
        </p:nvSpPr>
        <p:spPr>
          <a:xfrm>
            <a:off x="548640" y="4691286"/>
            <a:ext cx="329184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成员：王景冉 / 张金涛 / 密政奇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48640" y="4897026"/>
            <a:ext cx="82296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2026.03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01 / 8</a:t>
            </a:r>
            <a:endParaRPr lang="en-US" sz="790" dirty="0"/>
          </a:p>
        </p:txBody>
      </p:sp>
      <p:sp>
        <p:nvSpPr>
          <p:cNvPr id="24" name="Text 3"/>
          <p:cNvSpPr/>
          <p:nvPr/>
        </p:nvSpPr>
        <p:spPr>
          <a:xfrm>
            <a:off x="605790" y="1304053"/>
            <a:ext cx="8829675" cy="1285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50" b="1" kern="0" spc="-135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Tinix OS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4050" b="1" kern="0" spc="-135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Simulator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605790" y="2761378"/>
            <a:ext cx="4886325" cy="2786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A9B4C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操作系统核心功能模拟实现项目</a:t>
            </a:r>
            <a:endParaRPr lang="en-US" sz="1200" dirty="0"/>
          </a:p>
        </p:txBody>
      </p:sp>
      <p:sp>
        <p:nvSpPr>
          <p:cNvPr id="26" name="Text 2"/>
          <p:cNvSpPr/>
          <p:nvPr/>
        </p:nvSpPr>
        <p:spPr>
          <a:xfrm>
            <a:off x="469900" y="903527"/>
            <a:ext cx="1921669" cy="285750"/>
          </a:xfrm>
          <a:prstGeom prst="rect">
            <a:avLst/>
          </a:prstGeom>
          <a:noFill/>
        </p:spPr>
        <p:txBody>
          <a:bodyPr wrap="square" lIns="142875" tIns="57150" rIns="142875" bIns="57150" rtlCol="0" anchor="ctr"/>
          <a:lstStyle/>
          <a:p>
            <a:pPr>
              <a:lnSpc>
                <a:spcPct val="130000"/>
              </a:lnSpc>
            </a:pPr>
            <a:r>
              <a:rPr lang="en-US" sz="900" b="1" kern="0" spc="6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操作系统课程设计 · 中期答辩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POSITIONING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项目</a:t>
            </a:r>
            <a:r>
              <a:rPr lang="zh-CN" alt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选题</a:t>
            </a:r>
            <a:endParaRPr lang="zh-CN" altLang="en-US" sz="2250" b="1" dirty="0">
              <a:solidFill>
                <a:srgbClr val="F4F7F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02 / 8</a:t>
            </a:r>
            <a:endParaRPr lang="en-US" sz="790" dirty="0"/>
          </a:p>
        </p:txBody>
      </p:sp>
      <p:sp>
        <p:nvSpPr>
          <p:cNvPr id="136" name="Shape 2"/>
          <p:cNvSpPr/>
          <p:nvPr/>
        </p:nvSpPr>
        <p:spPr>
          <a:xfrm>
            <a:off x="384810" y="1299210"/>
            <a:ext cx="4328795" cy="3926205"/>
          </a:xfrm>
          <a:custGeom>
            <a:avLst/>
            <a:gdLst/>
            <a:ahLst/>
            <a:cxnLst/>
            <a:rect l="l" t="t" r="r" b="b"/>
            <a:pathLst>
              <a:path w="5132070" h="2712720">
                <a:moveTo>
                  <a:pt x="76200" y="0"/>
                </a:moveTo>
                <a:lnTo>
                  <a:pt x="5055870" y="0"/>
                </a:lnTo>
                <a:cubicBezTo>
                  <a:pt x="5097954" y="0"/>
                  <a:pt x="5132070" y="34116"/>
                  <a:pt x="5132070" y="76200"/>
                </a:cubicBezTo>
                <a:lnTo>
                  <a:pt x="5132070" y="2636520"/>
                </a:lnTo>
                <a:cubicBezTo>
                  <a:pt x="5132070" y="2678604"/>
                  <a:pt x="5097954" y="2712720"/>
                  <a:pt x="5055870" y="2712720"/>
                </a:cubicBezTo>
                <a:lnTo>
                  <a:pt x="76200" y="2712720"/>
                </a:lnTo>
                <a:cubicBezTo>
                  <a:pt x="34116" y="2712720"/>
                  <a:pt x="0" y="2678604"/>
                  <a:pt x="0" y="26365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Shape 3"/>
          <p:cNvSpPr/>
          <p:nvPr/>
        </p:nvSpPr>
        <p:spPr>
          <a:xfrm>
            <a:off x="664845" y="15697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78594"/>
                </a:lnTo>
                <a:cubicBezTo>
                  <a:pt x="0" y="182873"/>
                  <a:pt x="2307" y="186854"/>
                  <a:pt x="6028" y="188937"/>
                </a:cubicBezTo>
                <a:cubicBezTo>
                  <a:pt x="9748" y="191021"/>
                  <a:pt x="14325" y="190984"/>
                  <a:pt x="18008" y="188788"/>
                </a:cubicBezTo>
                <a:lnTo>
                  <a:pt x="71438" y="156753"/>
                </a:lnTo>
                <a:lnTo>
                  <a:pt x="124830" y="188788"/>
                </a:lnTo>
                <a:cubicBezTo>
                  <a:pt x="128513" y="190984"/>
                  <a:pt x="133090" y="191058"/>
                  <a:pt x="136810" y="188937"/>
                </a:cubicBezTo>
                <a:cubicBezTo>
                  <a:pt x="140531" y="186817"/>
                  <a:pt x="142875" y="182873"/>
                  <a:pt x="142875" y="178594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</a:path>
            </a:pathLst>
          </a:custGeom>
          <a:solidFill>
            <a:srgbClr val="A9B4C2"/>
          </a:solidFill>
        </p:spPr>
      </p:sp>
      <p:sp>
        <p:nvSpPr>
          <p:cNvPr id="138" name="Text 4"/>
          <p:cNvSpPr/>
          <p:nvPr/>
        </p:nvSpPr>
        <p:spPr>
          <a:xfrm>
            <a:off x="969645" y="153162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题目信息</a:t>
            </a:r>
            <a:endParaRPr lang="en-US" sz="1600" dirty="0"/>
          </a:p>
        </p:txBody>
      </p:sp>
      <p:sp>
        <p:nvSpPr>
          <p:cNvPr id="139" name="Text 5"/>
          <p:cNvSpPr/>
          <p:nvPr/>
        </p:nvSpPr>
        <p:spPr>
          <a:xfrm>
            <a:off x="617220" y="1950720"/>
            <a:ext cx="473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题目名称</a:t>
            </a:r>
            <a:endParaRPr lang="en-US" sz="1600" dirty="0"/>
          </a:p>
        </p:txBody>
      </p:sp>
      <p:sp>
        <p:nvSpPr>
          <p:cNvPr id="140" name="Text 6"/>
          <p:cNvSpPr/>
          <p:nvPr/>
        </p:nvSpPr>
        <p:spPr>
          <a:xfrm>
            <a:off x="617220" y="2179320"/>
            <a:ext cx="47434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Windows/Linux </a:t>
            </a:r>
            <a:r>
              <a:rPr lang="en-US" sz="1200" b="1" dirty="0" err="1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平台的操作系统核心功能模拟实现</a:t>
            </a:r>
            <a:endParaRPr lang="en-US" sz="1200" b="1" dirty="0">
              <a:solidFill>
                <a:srgbClr val="E0E2E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（Tinix OS Simulator）</a:t>
            </a:r>
            <a:endParaRPr lang="en-US" sz="1600" dirty="0"/>
          </a:p>
        </p:txBody>
      </p:sp>
      <p:sp>
        <p:nvSpPr>
          <p:cNvPr id="141" name="Text 7"/>
          <p:cNvSpPr/>
          <p:nvPr/>
        </p:nvSpPr>
        <p:spPr>
          <a:xfrm>
            <a:off x="617220" y="2788920"/>
            <a:ext cx="473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选题类型</a:t>
            </a:r>
            <a:endParaRPr lang="en-US" sz="1600" dirty="0"/>
          </a:p>
        </p:txBody>
      </p:sp>
      <p:sp>
        <p:nvSpPr>
          <p:cNvPr id="142" name="Text 8"/>
          <p:cNvSpPr/>
          <p:nvPr/>
        </p:nvSpPr>
        <p:spPr>
          <a:xfrm>
            <a:off x="617220" y="3017520"/>
            <a:ext cx="474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综合型操作系统模拟器</a:t>
            </a:r>
            <a:endParaRPr lang="en-US" sz="1600" dirty="0"/>
          </a:p>
        </p:txBody>
      </p:sp>
      <p:sp>
        <p:nvSpPr>
          <p:cNvPr id="149" name="Shape 16"/>
          <p:cNvSpPr/>
          <p:nvPr/>
        </p:nvSpPr>
        <p:spPr>
          <a:xfrm>
            <a:off x="4994275" y="1299210"/>
            <a:ext cx="3367405" cy="3926205"/>
          </a:xfrm>
          <a:custGeom>
            <a:avLst/>
            <a:gdLst/>
            <a:ahLst/>
            <a:cxnLst/>
            <a:rect l="l" t="t" r="r" b="b"/>
            <a:pathLst>
              <a:path w="5132070" h="2303145">
                <a:moveTo>
                  <a:pt x="76211" y="0"/>
                </a:moveTo>
                <a:lnTo>
                  <a:pt x="5055859" y="0"/>
                </a:lnTo>
                <a:cubicBezTo>
                  <a:pt x="5097949" y="0"/>
                  <a:pt x="5132070" y="34121"/>
                  <a:pt x="5132070" y="76211"/>
                </a:cubicBezTo>
                <a:lnTo>
                  <a:pt x="5132070" y="2226934"/>
                </a:lnTo>
                <a:cubicBezTo>
                  <a:pt x="5132070" y="2269024"/>
                  <a:pt x="5097949" y="2303145"/>
                  <a:pt x="5055859" y="2303145"/>
                </a:cubicBezTo>
                <a:lnTo>
                  <a:pt x="76211" y="2303145"/>
                </a:lnTo>
                <a:cubicBezTo>
                  <a:pt x="34121" y="2303145"/>
                  <a:pt x="0" y="2269024"/>
                  <a:pt x="0" y="222693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50" name="Shape 17"/>
          <p:cNvSpPr/>
          <p:nvPr/>
        </p:nvSpPr>
        <p:spPr>
          <a:xfrm>
            <a:off x="5250498" y="156972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A9B4C2"/>
          </a:solidFill>
        </p:spPr>
      </p:sp>
      <p:sp>
        <p:nvSpPr>
          <p:cNvPr id="151" name="Text 18"/>
          <p:cNvSpPr/>
          <p:nvPr/>
        </p:nvSpPr>
        <p:spPr>
          <a:xfrm>
            <a:off x="5579110" y="1531621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设计目的</a:t>
            </a:r>
            <a:endParaRPr lang="en-US" sz="1600" dirty="0"/>
          </a:p>
        </p:txBody>
      </p:sp>
      <p:sp>
        <p:nvSpPr>
          <p:cNvPr id="152" name="Text 19"/>
          <p:cNvSpPr/>
          <p:nvPr/>
        </p:nvSpPr>
        <p:spPr>
          <a:xfrm>
            <a:off x="5226685" y="1950720"/>
            <a:ext cx="2880360" cy="1075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理解操作系统的主要管理功能并模拟实现，基于 Windows 或 Linux 平台模拟操作系统的核心功能，包括进程管理、内存管理、设备分配、文件管理等功能模块。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Modules</a:t>
            </a:r>
            <a:endParaRPr lang="en-US" sz="825" b="1" dirty="0">
              <a:solidFill>
                <a:srgbClr val="B4C0D0"/>
              </a:solidFill>
              <a:latin typeface="Helvetica Neue" panose="02000503000000020004" pitchFamily="34" charset="0"/>
              <a:ea typeface="Helvetica Neue" panose="02000503000000020004" pitchFamily="34" charset="-122"/>
              <a:cs typeface="Helvetica Neue" panose="020005030000000200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</a:t>
            </a:r>
            <a:r>
              <a:rPr lang="zh-CN" alt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模块</a:t>
            </a:r>
            <a:endParaRPr lang="zh-CN" altLang="en-US" sz="2250" b="1" dirty="0">
              <a:solidFill>
                <a:srgbClr val="F4F7F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93776" y="1605186"/>
            <a:ext cx="3977640" cy="1179576"/>
          </a:xfrm>
          <a:prstGeom prst="roundRect">
            <a:avLst>
              <a:gd name="adj" fmla="val 6977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28630"/>
            <a:ext cx="364845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进程管理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975518"/>
            <a:ext cx="364845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五态模型：New / Ready / Running / Blocked / Terminated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时间片轮转：时间片 = 3 tick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指令系统：C / R / W / FO / FC / FR / FW / DR / DD / S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677156" y="1605186"/>
            <a:ext cx="3963924" cy="1179576"/>
          </a:xfrm>
          <a:prstGeom prst="roundRect">
            <a:avLst>
              <a:gd name="adj" fmla="val 6977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1748" y="1728630"/>
            <a:ext cx="36347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内存管理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1748" y="1975518"/>
            <a:ext cx="36347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页大小 4KB，物理页框 8 个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每进程独立页表，按需分页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页框耗尽后使用 Clock 置换，脏页写回 swap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93776" y="3086514"/>
            <a:ext cx="3977640" cy="1179576"/>
          </a:xfrm>
          <a:prstGeom prst="roundRect">
            <a:avLst>
              <a:gd name="adj" fmla="val 6977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09958"/>
            <a:ext cx="364845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文件系统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456846"/>
            <a:ext cx="364845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SuperBlock / inode / 位图 / 目录项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支持 format、mount、目录操作、普通文件读写与挂载后恢复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4677156" y="3086514"/>
            <a:ext cx="3963924" cy="1179576"/>
          </a:xfrm>
          <a:prstGeom prst="roundRect">
            <a:avLst>
              <a:gd name="adj" fmla="val 6977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1748" y="3209958"/>
            <a:ext cx="36347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设备管理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1748" y="3456846"/>
            <a:ext cx="36347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当前注册磁盘设备 dev=0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请求时空闲即分配；忙则进入 FIFO 等待队列；释放后转交并唤醒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03 / 8</a:t>
            </a:r>
            <a:endParaRPr lang="en-US" sz="7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TEAM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成员分工</a:t>
            </a:r>
            <a:endParaRPr lang="en-US" sz="22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93776" y="1564038"/>
            <a:ext cx="2660904" cy="1659636"/>
          </a:xfrm>
          <a:prstGeom prst="roundRect">
            <a:avLst>
              <a:gd name="adj" fmla="val 4959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56768" y="1687482"/>
            <a:ext cx="2331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王景冉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58368" y="1934370"/>
            <a:ext cx="2331720" cy="1165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进程管理 / Shell</a:t>
            </a:r>
            <a:endParaRPr lang="en-US" sz="1035" dirty="0"/>
          </a:p>
          <a:p>
            <a:pPr marL="0" indent="0">
              <a:buNone/>
            </a:pP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PCB 与状态机</a:t>
            </a: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时间片轮转与 .pc 指令执行</a:t>
            </a: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命令解析与脚本批处理</a:t>
            </a:r>
            <a:endParaRPr lang="en-US" sz="1035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3243834" y="1564038"/>
            <a:ext cx="2660904" cy="1659636"/>
          </a:xfrm>
          <a:prstGeom prst="roundRect">
            <a:avLst>
              <a:gd name="adj" fmla="val 4959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3306826" y="1687482"/>
            <a:ext cx="2331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张金涛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3408426" y="1934370"/>
            <a:ext cx="2331720" cy="1165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内存管理 / 设备管理</a:t>
            </a:r>
            <a:endParaRPr lang="en-US" sz="1035" dirty="0"/>
          </a:p>
          <a:p>
            <a:pPr marL="0" indent="0">
              <a:buNone/>
            </a:pP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页表、缺页、Clock 置换</a:t>
            </a: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swap 与地址转换</a:t>
            </a: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设备请求、等待队列、唤醒</a:t>
            </a:r>
            <a:endParaRPr lang="en-US" sz="1035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5993892" y="1564038"/>
            <a:ext cx="2660904" cy="1659636"/>
          </a:xfrm>
          <a:prstGeom prst="roundRect">
            <a:avLst>
              <a:gd name="adj" fmla="val 4959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056884" y="1687482"/>
            <a:ext cx="2331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密政奇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6158484" y="1934370"/>
            <a:ext cx="2331720" cy="1165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文件系统 / 测试文档</a:t>
            </a:r>
            <a:endParaRPr lang="en-US" sz="1035" dirty="0"/>
          </a:p>
          <a:p>
            <a:pPr marL="0" indent="0">
              <a:buNone/>
            </a:pP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SuperBlock、inode、位图</a:t>
            </a: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目录操作与持久化</a:t>
            </a:r>
            <a:endParaRPr lang="en-US" sz="1035" dirty="0"/>
          </a:p>
          <a:p>
            <a:pPr marL="0" indent="0">
              <a:buNone/>
            </a:pPr>
            <a:r>
              <a:rPr lang="en-US" sz="103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测试脚本与材料整理</a:t>
            </a:r>
            <a:endParaRPr lang="en-US" sz="1035" dirty="0"/>
          </a:p>
        </p:txBody>
      </p:sp>
      <p:sp>
        <p:nvSpPr>
          <p:cNvPr id="14" name="Shape 12"/>
          <p:cNvSpPr/>
          <p:nvPr/>
        </p:nvSpPr>
        <p:spPr>
          <a:xfrm>
            <a:off x="493776" y="3497994"/>
            <a:ext cx="8161020" cy="1069848"/>
          </a:xfrm>
          <a:prstGeom prst="roundRect">
            <a:avLst>
              <a:gd name="adj" fmla="val 7692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818" y="3621438"/>
            <a:ext cx="783183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开发协作方式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868326"/>
            <a:ext cx="7831836" cy="576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 Git 管理版本，按模块拆分提交；</a:t>
            </a:r>
            <a:endParaRPr lang="en-US" sz="1050" dirty="0">
              <a:solidFill>
                <a:srgbClr val="B4C0D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通过 GitHub 同步仓库、合并阶段成果；</a:t>
            </a:r>
            <a:endParaRPr lang="en-US" sz="1050" dirty="0">
              <a:solidFill>
                <a:srgbClr val="B4C0D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在联调阶段以稳定分支为基线，避免相互覆盖修改。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04 / 8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DEMO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系统演示路径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4048" y="1193706"/>
            <a:ext cx="7406640" cy="2331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通过一条脚本串起文件系统、.pc 指令、设备等待队列和页面置换。</a:t>
            </a:r>
            <a:endParaRPr lang="en-US" sz="990" dirty="0"/>
          </a:p>
        </p:txBody>
      </p:sp>
      <p:sp>
        <p:nvSpPr>
          <p:cNvPr id="5" name="Shape 3"/>
          <p:cNvSpPr/>
          <p:nvPr/>
        </p:nvSpPr>
        <p:spPr>
          <a:xfrm>
            <a:off x="493776" y="1605186"/>
            <a:ext cx="2811780" cy="960120"/>
          </a:xfrm>
          <a:prstGeom prst="roundRect">
            <a:avLst>
              <a:gd name="adj" fmla="val 8571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28630"/>
            <a:ext cx="248259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脚本入口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975518"/>
            <a:ext cx="2482596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5" dirty="0">
                <a:solidFill>
                  <a:srgbClr val="B4C0D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tinix&gt; script demo_acceptance.tsh</a:t>
            </a:r>
            <a:endParaRPr lang="en-US" sz="1015" dirty="0"/>
          </a:p>
        </p:txBody>
      </p:sp>
      <p:sp>
        <p:nvSpPr>
          <p:cNvPr id="8" name="Shape 6"/>
          <p:cNvSpPr/>
          <p:nvPr/>
        </p:nvSpPr>
        <p:spPr>
          <a:xfrm>
            <a:off x="494030" y="2743835"/>
            <a:ext cx="2811780" cy="1715770"/>
          </a:xfrm>
          <a:prstGeom prst="roundRect">
            <a:avLst>
              <a:gd name="adj" fmla="val 5714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867058"/>
            <a:ext cx="248259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演示顺序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113946"/>
            <a:ext cx="2482596" cy="9464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1. 文件系统格式化与持久化</a:t>
            </a:r>
            <a:endParaRPr lang="en-US" sz="1065" dirty="0"/>
          </a:p>
          <a:p>
            <a:pPr marL="0" indent="0">
              <a:buNone/>
            </a:pPr>
            <a:endParaRPr lang="en-US" sz="1065" dirty="0"/>
          </a:p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2. .pc 文件驱动的文件操作</a:t>
            </a:r>
            <a:endParaRPr lang="en-US" sz="1065" dirty="0"/>
          </a:p>
          <a:p>
            <a:pPr marL="0" indent="0">
              <a:buNone/>
            </a:pPr>
            <a:endParaRPr lang="en-US" sz="1065" dirty="0"/>
          </a:p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3. 设备请求、阻塞、唤醒</a:t>
            </a:r>
            <a:endParaRPr lang="en-US" sz="1065" dirty="0"/>
          </a:p>
          <a:p>
            <a:pPr marL="0" indent="0">
              <a:buNone/>
            </a:pPr>
            <a:endParaRPr lang="en-US" sz="1065" dirty="0"/>
          </a:p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4. 缺页与页面置换</a:t>
            </a:r>
            <a:endParaRPr lang="en-US" sz="1065" dirty="0"/>
          </a:p>
        </p:txBody>
      </p:sp>
      <p:sp>
        <p:nvSpPr>
          <p:cNvPr id="11" name="Shape 9"/>
          <p:cNvSpPr/>
          <p:nvPr/>
        </p:nvSpPr>
        <p:spPr>
          <a:xfrm>
            <a:off x="3483610" y="1605280"/>
            <a:ext cx="5157470" cy="2854325"/>
          </a:xfrm>
          <a:prstGeom prst="roundRect">
            <a:avLst>
              <a:gd name="adj" fmla="val 3191"/>
            </a:avLst>
          </a:prstGeom>
          <a:solidFill>
            <a:srgbClr val="111B28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1605186"/>
            <a:ext cx="5157216" cy="246888"/>
          </a:xfrm>
          <a:prstGeom prst="rect">
            <a:avLst/>
          </a:prstGeom>
          <a:solidFill>
            <a:srgbClr val="182435"/>
          </a:solidFill>
          <a:ln w="12700">
            <a:solidFill>
              <a:srgbClr val="111B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673766"/>
            <a:ext cx="4937760" cy="960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关键日志片段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593592" y="1934370"/>
            <a:ext cx="4937760" cy="2167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[Dev] Granted dev=0 (disk) to pid=2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[Dev] Queued pid=3 for dev=0 (disk), owner=2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[Dev] Wakeup pid=3 for dev=0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...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[PageFault] PID=4, VPage=8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[Evict] Replacing Frame 0 from PID=4, VPage=0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[Swap] Writing PID=4 VPage=0 to Disk Block 896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05 / 8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VALIDATION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测试与验证结果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4048" y="1193706"/>
            <a:ext cx="7406640" cy="2331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当前版本已经能够重复构建、重复验证，并稳定跑通关键演示链路。</a:t>
            </a:r>
            <a:endParaRPr lang="en-US" sz="990" dirty="0"/>
          </a:p>
        </p:txBody>
      </p:sp>
      <p:sp>
        <p:nvSpPr>
          <p:cNvPr id="5" name="Shape 3"/>
          <p:cNvSpPr/>
          <p:nvPr/>
        </p:nvSpPr>
        <p:spPr>
          <a:xfrm>
            <a:off x="589788" y="1632618"/>
            <a:ext cx="1165860" cy="658368"/>
          </a:xfrm>
          <a:prstGeom prst="roundRect">
            <a:avLst>
              <a:gd name="adj" fmla="val 12500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" y="1714914"/>
            <a:ext cx="1001268" cy="2331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75D89B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21 / 21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672084" y="2016666"/>
            <a:ext cx="1001268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CTest 通过</a:t>
            </a:r>
            <a:endParaRPr lang="en-US" sz="865" dirty="0"/>
          </a:p>
        </p:txBody>
      </p:sp>
      <p:sp>
        <p:nvSpPr>
          <p:cNvPr id="8" name="Shape 6"/>
          <p:cNvSpPr/>
          <p:nvPr/>
        </p:nvSpPr>
        <p:spPr>
          <a:xfrm>
            <a:off x="1892808" y="1632618"/>
            <a:ext cx="1028700" cy="658368"/>
          </a:xfrm>
          <a:prstGeom prst="roundRect">
            <a:avLst>
              <a:gd name="adj" fmla="val 12500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1714914"/>
            <a:ext cx="864108" cy="2331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4FD1C5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4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975104" y="2016666"/>
            <a:ext cx="864108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核心场景</a:t>
            </a:r>
            <a:endParaRPr lang="en-US" sz="865" dirty="0"/>
          </a:p>
        </p:txBody>
      </p:sp>
      <p:sp>
        <p:nvSpPr>
          <p:cNvPr id="11" name="Shape 9"/>
          <p:cNvSpPr/>
          <p:nvPr/>
        </p:nvSpPr>
        <p:spPr>
          <a:xfrm>
            <a:off x="3058668" y="1632618"/>
            <a:ext cx="1028700" cy="658368"/>
          </a:xfrm>
          <a:prstGeom prst="roundRect">
            <a:avLst>
              <a:gd name="adj" fmla="val 12500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0964" y="1714914"/>
            <a:ext cx="864108" cy="2331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7EA6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1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3140964" y="2016666"/>
            <a:ext cx="864108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验收脚本</a:t>
            </a:r>
            <a:endParaRPr lang="en-US" sz="865" dirty="0"/>
          </a:p>
        </p:txBody>
      </p:sp>
      <p:sp>
        <p:nvSpPr>
          <p:cNvPr id="14" name="Shape 12"/>
          <p:cNvSpPr/>
          <p:nvPr/>
        </p:nvSpPr>
        <p:spPr>
          <a:xfrm>
            <a:off x="589788" y="2537874"/>
            <a:ext cx="3669030" cy="1851660"/>
          </a:xfrm>
          <a:prstGeom prst="roundRect">
            <a:avLst>
              <a:gd name="adj" fmla="val 4444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" y="2661318"/>
            <a:ext cx="333984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覆盖内容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" y="2908206"/>
            <a:ext cx="3339846" cy="13578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文件系统：持久化、路径解析、删除重建、超大文件读取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进程与脚本：.pc 解析、显式/自动 fd、非法输入处理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内存：swap 分区边界、跨进程置换、swap 回收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设备：请求排队、释放后唤醒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23410" y="1632618"/>
            <a:ext cx="4149090" cy="1741932"/>
          </a:xfrm>
          <a:prstGeom prst="roundRect">
            <a:avLst>
              <a:gd name="adj" fmla="val 4724"/>
            </a:avLst>
          </a:prstGeom>
          <a:solidFill>
            <a:srgbClr val="111B28"/>
          </a:solidFill>
          <a:ln w="12700">
            <a:solidFill>
              <a:srgbClr val="3144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3410" y="1632618"/>
            <a:ext cx="4149090" cy="246888"/>
          </a:xfrm>
          <a:prstGeom prst="rect">
            <a:avLst/>
          </a:prstGeom>
          <a:solidFill>
            <a:srgbClr val="182435"/>
          </a:solidFill>
          <a:ln w="12700">
            <a:solidFill>
              <a:srgbClr val="111B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3138" y="1701198"/>
            <a:ext cx="3929634" cy="960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ctest 输出摘要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533138" y="1961802"/>
            <a:ext cx="3929634" cy="13304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Test project /Users/ricequakes/tinix/build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...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20/21 Test #20: tinix_shell_cat_large_file ..... Passed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21/21 Test #21: tinix_acceptance_demo_script ... Passed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9E4F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100% tests passed, 0 tests failed out of 21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423410" y="3607722"/>
            <a:ext cx="4149090" cy="781812"/>
          </a:xfrm>
          <a:prstGeom prst="roundRect">
            <a:avLst>
              <a:gd name="adj" fmla="val 10526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8002" y="3731166"/>
            <a:ext cx="381990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88002" y="3978054"/>
            <a:ext cx="3819906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核心机制已经贯通，主要回归风险已通过自动化测试覆盖。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06 / 8</a:t>
            </a:r>
            <a:endParaRPr lang="en-US" sz="7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STATUS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当前完成度与实现边界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3776" y="1605186"/>
            <a:ext cx="3977640" cy="2578608"/>
          </a:xfrm>
          <a:prstGeom prst="roundRect">
            <a:avLst>
              <a:gd name="adj" fmla="val 3191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28630"/>
            <a:ext cx="364845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当前完成度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975518"/>
            <a:ext cx="3648456" cy="2084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1. 进程、内存、文件系统、设备、Shell 已在同一套程序里贯通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2. 关键链路已经可跑：create / tick / .pc / format / mount / dev / memstats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3. 文件系统与 swap 共用 disk.img，分区边界清晰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4. 关键流程具备日志输出，便于教学展示与状态追踪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7156" y="1605186"/>
            <a:ext cx="3963924" cy="2578608"/>
          </a:xfrm>
          <a:prstGeom prst="roundRect">
            <a:avLst>
              <a:gd name="adj" fmla="val 3191"/>
            </a:avLst>
          </a:prstGeom>
          <a:solidFill>
            <a:srgbClr val="1A2433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1748" y="1728630"/>
            <a:ext cx="36347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实现边界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1748" y="1975518"/>
            <a:ext cx="3634740" cy="2084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1. 这是用户态模拟器，不是真实内核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2. 并发是单线程逻辑并发，不涉及真实中断和 DMA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3. 文件系统暂未实现权限模型</a:t>
            </a:r>
            <a:r>
              <a:rPr lang="zh-CN" alt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和</a:t>
            </a:r>
            <a:r>
              <a:rPr lang="en-US" sz="1050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间接块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07 / 8</a:t>
            </a:r>
            <a:endParaRPr lang="en-US" sz="7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9054"/>
            <a:ext cx="28803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NEXT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77190" y="713646"/>
            <a:ext cx="5897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下一阶段计划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3776" y="1632618"/>
            <a:ext cx="8161020" cy="1481328"/>
          </a:xfrm>
          <a:prstGeom prst="roundRect">
            <a:avLst>
              <a:gd name="adj" fmla="val 5556"/>
            </a:avLst>
          </a:prstGeom>
          <a:solidFill>
            <a:srgbClr val="223047"/>
          </a:solidFill>
          <a:ln w="12700">
            <a:solidFill>
              <a:srgbClr val="3046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56062"/>
            <a:ext cx="7831836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后续工作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002950"/>
            <a:ext cx="7831836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1. 继续完善</a:t>
            </a:r>
            <a:r>
              <a:rPr lang="zh-CN" alt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设备管理相关功能</a:t>
            </a:r>
            <a:endParaRPr lang="en-US" sz="1065" dirty="0"/>
          </a:p>
          <a:p>
            <a:pPr marL="0" indent="0">
              <a:buNone/>
            </a:pPr>
            <a:endParaRPr lang="en-US" sz="1065" dirty="0"/>
          </a:p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2. </a:t>
            </a:r>
            <a:r>
              <a:rPr lang="zh-CN" alt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加强测试，修正缺陷</a:t>
            </a: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</a:t>
            </a:r>
            <a:endParaRPr lang="en-US" sz="1065" dirty="0">
              <a:solidFill>
                <a:srgbClr val="B4C0D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marL="0" indent="0">
              <a:buNone/>
            </a:pPr>
            <a:endParaRPr lang="en-US" sz="1065" dirty="0"/>
          </a:p>
          <a:p>
            <a:pPr marL="0" indent="0">
              <a:buNone/>
            </a:pP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3. </a:t>
            </a:r>
            <a:r>
              <a:rPr lang="en-US" sz="1065" dirty="0">
                <a:solidFill>
                  <a:srgbClr val="B4C0D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扩展：优先级调度、更完整的文件系统能力、更多内存统计指标</a:t>
            </a:r>
            <a:endParaRPr lang="en-US" sz="1065" dirty="0"/>
          </a:p>
          <a:p>
            <a:pPr marL="0" indent="0">
              <a:buNone/>
            </a:pPr>
            <a:endParaRPr lang="en-US" sz="1065" dirty="0"/>
          </a:p>
        </p:txBody>
      </p:sp>
      <p:sp>
        <p:nvSpPr>
          <p:cNvPr id="8" name="Text 6"/>
          <p:cNvSpPr/>
          <p:nvPr/>
        </p:nvSpPr>
        <p:spPr>
          <a:xfrm>
            <a:off x="548640" y="3690018"/>
            <a:ext cx="123444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谢谢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2356" y="4032918"/>
            <a:ext cx="822960" cy="1508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75" b="1" dirty="0">
                <a:solidFill>
                  <a:srgbClr val="4FD1C5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Q &amp; A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62356" y="4787298"/>
            <a:ext cx="315468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Tinix OS Simulator · Midterm Review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8353044" y="5089050"/>
            <a:ext cx="562356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90" dirty="0">
                <a:solidFill>
                  <a:srgbClr val="B4C0D0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08 / 8</a:t>
            </a:r>
            <a:endParaRPr lang="en-US" sz="79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2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3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4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5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6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7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8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ags/tag9.xml><?xml version="1.0" encoding="utf-8"?>
<p:tagLst xmlns:p="http://schemas.openxmlformats.org/presentationml/2006/main">
  <p:tag name="KSO_WM_DIAGRAM_VIRTUALLY_FRAME" val="{&quot;height&quot;:130.67999999999998,&quot;left&quot;:38.88,&quot;top&quot;:123.15259765625001,&quot;width&quot;:642.59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WPS 演示</Application>
  <PresentationFormat>On-screen Show (16:9)</PresentationFormat>
  <Paragraphs>218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8" baseType="lpstr">
      <vt:lpstr>Arial</vt:lpstr>
      <vt:lpstr>宋体</vt:lpstr>
      <vt:lpstr>Wingdings</vt:lpstr>
      <vt:lpstr>Helvetica Neue</vt:lpstr>
      <vt:lpstr>Helvetica Neue</vt:lpstr>
      <vt:lpstr>Helvetica Neue</vt:lpstr>
      <vt:lpstr>PingFang SC</vt:lpstr>
      <vt:lpstr>PingFang SC</vt:lpstr>
      <vt:lpstr>Menlo</vt:lpstr>
      <vt:lpstr>Menlo</vt:lpstr>
      <vt:lpstr>Menlo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汉仪书宋二KW</vt:lpstr>
      <vt:lpstr>Hedvig Letters Sans</vt:lpstr>
      <vt:lpstr>苹方-简</vt:lpstr>
      <vt:lpstr>Hedvig Letters Sans</vt:lpstr>
      <vt:lpstr>Hedvig Letters Sans</vt:lpstr>
      <vt:lpstr>MiSans</vt:lpstr>
      <vt:lpstr>MiSans</vt:lpstr>
      <vt:lpstr>MiSans</vt:lpstr>
      <vt:lpstr>Noto Sans SC</vt:lpstr>
      <vt:lpstr>Noto Sans SC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Tinix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Tinix OS Simulator 中期答辩</dc:title>
  <dc:creator>OpenAI Codex</dc:creator>
  <dc:subject>Tinix OS Simulator 中期答辩</dc:subject>
  <cp:lastModifiedBy>RiceQuakes</cp:lastModifiedBy>
  <cp:revision>2</cp:revision>
  <dcterms:created xsi:type="dcterms:W3CDTF">2026-03-27T03:18:15Z</dcterms:created>
  <dcterms:modified xsi:type="dcterms:W3CDTF">2026-03-27T03:18:15Z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FC1A7F28A23BCB0CF7F6C569FAD3782F_42</vt:lpwstr>
  </property>
</Properties>
</file>