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16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FB6E-57BF-177D-CBBB-D9B37C5D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FA6E9-8CDE-5FC0-095D-1BA291EEF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91026-DB92-026E-4D1A-9B99C1EB2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3DCE1-6A1F-BA8E-4470-4086A2F38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25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a7839a683243dfebdb45ba9d3ddd1e78a9fdeae8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786" b="1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D8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4810" y="1692593"/>
            <a:ext cx="2493645" cy="388620"/>
          </a:xfrm>
          <a:custGeom>
            <a:avLst/>
            <a:gdLst/>
            <a:ahLst/>
            <a:cxnLst/>
            <a:rect l="l" t="t" r="r" b="b"/>
            <a:pathLst>
              <a:path w="2493645" h="388620">
                <a:moveTo>
                  <a:pt x="194310" y="0"/>
                </a:moveTo>
                <a:lnTo>
                  <a:pt x="2299335" y="0"/>
                </a:lnTo>
                <a:cubicBezTo>
                  <a:pt x="2406649" y="0"/>
                  <a:pt x="2493645" y="86996"/>
                  <a:pt x="2493645" y="194310"/>
                </a:cubicBezTo>
                <a:lnTo>
                  <a:pt x="2493645" y="194310"/>
                </a:lnTo>
                <a:cubicBezTo>
                  <a:pt x="2493645" y="301624"/>
                  <a:pt x="2406649" y="388620"/>
                  <a:pt x="229933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0160">
            <a:solidFill>
              <a:srgbClr val="A9B4C2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1000" y="1688783"/>
            <a:ext cx="25622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操作系统课程设计 · 中期答辩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313622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kern="0" spc="-135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Tinix OS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kern="0" spc="-135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Simulator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56722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操作系统核心功能模拟实现项目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9397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4813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484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五大核心模块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964531" y="6267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2" name="Text 9"/>
          <p:cNvSpPr/>
          <p:nvPr/>
        </p:nvSpPr>
        <p:spPr>
          <a:xfrm>
            <a:off x="2305050" y="62484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C++17 实现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11141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4" name="Text 11"/>
          <p:cNvSpPr/>
          <p:nvPr/>
        </p:nvSpPr>
        <p:spPr>
          <a:xfrm>
            <a:off x="3739753" y="62484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完成度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062692" y="62484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2026年2月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51610"/>
            <a:ext cx="5589270" cy="2388870"/>
          </a:xfrm>
          <a:custGeom>
            <a:avLst/>
            <a:gdLst/>
            <a:ahLst/>
            <a:cxnLst/>
            <a:rect l="l" t="t" r="r" b="b"/>
            <a:pathLst>
              <a:path w="5589270" h="238887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274563"/>
                </a:lnTo>
                <a:cubicBezTo>
                  <a:pt x="5589270" y="2337693"/>
                  <a:pt x="5538093" y="2388870"/>
                  <a:pt x="5474963" y="2388870"/>
                </a:cubicBezTo>
                <a:lnTo>
                  <a:pt x="114307" y="2388870"/>
                </a:lnTo>
                <a:cubicBezTo>
                  <a:pt x="51177" y="2388870"/>
                  <a:pt x="0" y="2337693"/>
                  <a:pt x="0" y="22745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93420" y="2266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02018" y="2457450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84020" y="23336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所选题目</a:t>
            </a:r>
            <a:r>
              <a:rPr lang="zh-CN" alt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及人员分工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84020" y="2714506"/>
            <a:ext cx="405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项目选题与模块规划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4110" y="1451610"/>
            <a:ext cx="5589270" cy="2388870"/>
          </a:xfrm>
          <a:custGeom>
            <a:avLst/>
            <a:gdLst/>
            <a:ahLst/>
            <a:cxnLst/>
            <a:rect l="l" t="t" r="r" b="b"/>
            <a:pathLst>
              <a:path w="5589270" h="238887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274563"/>
                </a:lnTo>
                <a:cubicBezTo>
                  <a:pt x="5589270" y="2337693"/>
                  <a:pt x="5538093" y="2388870"/>
                  <a:pt x="5474963" y="2388870"/>
                </a:cubicBezTo>
                <a:lnTo>
                  <a:pt x="114307" y="2388870"/>
                </a:lnTo>
                <a:cubicBezTo>
                  <a:pt x="51177" y="2388870"/>
                  <a:pt x="0" y="2337693"/>
                  <a:pt x="0" y="22745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2720" y="22669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06791" y="2457450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13320" y="23336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开发工具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13320" y="2714506"/>
            <a:ext cx="405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技术栈与开发环境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4080510"/>
            <a:ext cx="5589270" cy="2388870"/>
          </a:xfrm>
          <a:custGeom>
            <a:avLst/>
            <a:gdLst/>
            <a:ahLst/>
            <a:cxnLst/>
            <a:rect l="l" t="t" r="r" b="b"/>
            <a:pathLst>
              <a:path w="5589270" h="238887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274563"/>
                </a:lnTo>
                <a:cubicBezTo>
                  <a:pt x="5589270" y="2337693"/>
                  <a:pt x="5538093" y="2388870"/>
                  <a:pt x="5474963" y="2388870"/>
                </a:cubicBezTo>
                <a:lnTo>
                  <a:pt x="114307" y="2388870"/>
                </a:lnTo>
                <a:cubicBezTo>
                  <a:pt x="51177" y="2388870"/>
                  <a:pt x="0" y="2337693"/>
                  <a:pt x="0" y="22745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420" y="48958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72371" y="5086350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84020" y="49625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84020" y="5343406"/>
            <a:ext cx="405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系统架构与核心算法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4080510"/>
            <a:ext cx="5589270" cy="2388870"/>
          </a:xfrm>
          <a:custGeom>
            <a:avLst/>
            <a:gdLst/>
            <a:ahLst/>
            <a:cxnLst/>
            <a:rect l="l" t="t" r="r" b="b"/>
            <a:pathLst>
              <a:path w="5589270" h="2388870">
                <a:moveTo>
                  <a:pt x="114307" y="0"/>
                </a:moveTo>
                <a:lnTo>
                  <a:pt x="5474963" y="0"/>
                </a:lnTo>
                <a:cubicBezTo>
                  <a:pt x="5538093" y="0"/>
                  <a:pt x="5589270" y="51177"/>
                  <a:pt x="5589270" y="114307"/>
                </a:cubicBezTo>
                <a:lnTo>
                  <a:pt x="5589270" y="2274563"/>
                </a:lnTo>
                <a:cubicBezTo>
                  <a:pt x="5589270" y="2337693"/>
                  <a:pt x="5538093" y="2388870"/>
                  <a:pt x="5474963" y="2388870"/>
                </a:cubicBezTo>
                <a:lnTo>
                  <a:pt x="114307" y="2388870"/>
                </a:lnTo>
                <a:cubicBezTo>
                  <a:pt x="51177" y="2388870"/>
                  <a:pt x="0" y="2337693"/>
                  <a:pt x="0" y="227456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2720" y="489585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697028" y="5086350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3320" y="4962525"/>
            <a:ext cx="409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进展情况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3320" y="5343406"/>
            <a:ext cx="405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已完成工作与测试成果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7ce3e076de8a69e17c06074d9b6ac79d1c10822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224599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374333" y="0"/>
                </a:moveTo>
                <a:lnTo>
                  <a:pt x="374333" y="0"/>
                </a:lnTo>
                <a:cubicBezTo>
                  <a:pt x="581071" y="0"/>
                  <a:pt x="748665" y="167594"/>
                  <a:pt x="748665" y="374333"/>
                </a:cubicBezTo>
                <a:lnTo>
                  <a:pt x="748665" y="374333"/>
                </a:lnTo>
                <a:cubicBezTo>
                  <a:pt x="748665" y="581071"/>
                  <a:pt x="581071" y="748665"/>
                  <a:pt x="374333" y="748665"/>
                </a:cubicBezTo>
                <a:lnTo>
                  <a:pt x="374333" y="748665"/>
                </a:lnTo>
                <a:cubicBezTo>
                  <a:pt x="167594" y="748665"/>
                  <a:pt x="0" y="581071"/>
                  <a:pt x="0" y="374333"/>
                </a:cubicBezTo>
                <a:lnTo>
                  <a:pt x="0" y="374333"/>
                </a:lnTo>
                <a:cubicBezTo>
                  <a:pt x="0" y="167594"/>
                  <a:pt x="167594" y="0"/>
                  <a:pt x="37433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A9B4C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9598" y="2428875"/>
            <a:ext cx="514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2614613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B4C2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3228975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所选题目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148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项目选题与模块规划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项目选题与模块规划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99210"/>
            <a:ext cx="5132070" cy="2712720"/>
          </a:xfrm>
          <a:custGeom>
            <a:avLst/>
            <a:gdLst/>
            <a:ahLst/>
            <a:cxnLst/>
            <a:rect l="l" t="t" r="r" b="b"/>
            <a:pathLst>
              <a:path w="5132070" h="2712720">
                <a:moveTo>
                  <a:pt x="76200" y="0"/>
                </a:moveTo>
                <a:lnTo>
                  <a:pt x="5055870" y="0"/>
                </a:lnTo>
                <a:cubicBezTo>
                  <a:pt x="5097954" y="0"/>
                  <a:pt x="5132070" y="34116"/>
                  <a:pt x="5132070" y="76200"/>
                </a:cubicBezTo>
                <a:lnTo>
                  <a:pt x="5132070" y="2636520"/>
                </a:lnTo>
                <a:cubicBezTo>
                  <a:pt x="5132070" y="2678604"/>
                  <a:pt x="5097954" y="2712720"/>
                  <a:pt x="5055870" y="2712720"/>
                </a:cubicBezTo>
                <a:lnTo>
                  <a:pt x="76200" y="2712720"/>
                </a:lnTo>
                <a:cubicBezTo>
                  <a:pt x="34116" y="2712720"/>
                  <a:pt x="0" y="2678604"/>
                  <a:pt x="0" y="26365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64845" y="15697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78594"/>
                </a:lnTo>
                <a:cubicBezTo>
                  <a:pt x="0" y="182873"/>
                  <a:pt x="2307" y="186854"/>
                  <a:pt x="6028" y="188937"/>
                </a:cubicBezTo>
                <a:cubicBezTo>
                  <a:pt x="9748" y="191021"/>
                  <a:pt x="14325" y="190984"/>
                  <a:pt x="18008" y="188788"/>
                </a:cubicBezTo>
                <a:lnTo>
                  <a:pt x="71438" y="156753"/>
                </a:lnTo>
                <a:lnTo>
                  <a:pt x="124830" y="188788"/>
                </a:lnTo>
                <a:cubicBezTo>
                  <a:pt x="128513" y="190984"/>
                  <a:pt x="133090" y="191058"/>
                  <a:pt x="136810" y="188937"/>
                </a:cubicBezTo>
                <a:cubicBezTo>
                  <a:pt x="140531" y="186817"/>
                  <a:pt x="142875" y="182873"/>
                  <a:pt x="142875" y="178594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" name="Text 4"/>
          <p:cNvSpPr/>
          <p:nvPr/>
        </p:nvSpPr>
        <p:spPr>
          <a:xfrm>
            <a:off x="969645" y="153162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题目信息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" y="195072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题目名称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7220" y="2179320"/>
            <a:ext cx="4743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Windows/Linux </a:t>
            </a:r>
            <a:r>
              <a:rPr lang="en-US" sz="1200" b="1" dirty="0" err="1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平台的操作系统核心功能模拟实现</a:t>
            </a:r>
            <a:endParaRPr lang="en-US" sz="1200" b="1" dirty="0">
              <a:solidFill>
                <a:srgbClr val="E0E2E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（Tinix OS Simulator）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78892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选题类型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301752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综合型操作系统模拟器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336042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难度指数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745" y="36080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3" name="Shape 11"/>
          <p:cNvSpPr/>
          <p:nvPr/>
        </p:nvSpPr>
        <p:spPr>
          <a:xfrm>
            <a:off x="855345" y="36080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3945" y="36080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Shape 13"/>
          <p:cNvSpPr/>
          <p:nvPr/>
        </p:nvSpPr>
        <p:spPr>
          <a:xfrm>
            <a:off x="1312545" y="36080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6" name="Shape 14"/>
          <p:cNvSpPr/>
          <p:nvPr/>
        </p:nvSpPr>
        <p:spPr>
          <a:xfrm>
            <a:off x="1541145" y="360807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810" y="4171951"/>
            <a:ext cx="5132070" cy="2303145"/>
          </a:xfrm>
          <a:custGeom>
            <a:avLst/>
            <a:gdLst/>
            <a:ahLst/>
            <a:cxnLst/>
            <a:rect l="l" t="t" r="r" b="b"/>
            <a:pathLst>
              <a:path w="5132070" h="2303145">
                <a:moveTo>
                  <a:pt x="76211" y="0"/>
                </a:moveTo>
                <a:lnTo>
                  <a:pt x="5055859" y="0"/>
                </a:lnTo>
                <a:cubicBezTo>
                  <a:pt x="5097949" y="0"/>
                  <a:pt x="5132070" y="34121"/>
                  <a:pt x="5132070" y="76211"/>
                </a:cubicBezTo>
                <a:lnTo>
                  <a:pt x="5132070" y="2226934"/>
                </a:lnTo>
                <a:cubicBezTo>
                  <a:pt x="5132070" y="2269024"/>
                  <a:pt x="5097949" y="2303145"/>
                  <a:pt x="5055859" y="2303145"/>
                </a:cubicBezTo>
                <a:lnTo>
                  <a:pt x="76211" y="2303145"/>
                </a:lnTo>
                <a:cubicBezTo>
                  <a:pt x="34121" y="2303145"/>
                  <a:pt x="0" y="2269024"/>
                  <a:pt x="0" y="222693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033" y="44424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Text 18"/>
          <p:cNvSpPr/>
          <p:nvPr/>
        </p:nvSpPr>
        <p:spPr>
          <a:xfrm>
            <a:off x="969645" y="4404361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设计目的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" y="4823461"/>
            <a:ext cx="47434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理解操作系统的主要管理功能并模拟实现，基于 Windows 或 Linux 平台模拟操作系统的核心功能，包括进程管理、内存管理、设备分配、文件管理等功能模块。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56910" y="1299210"/>
            <a:ext cx="6046470" cy="5170170"/>
          </a:xfrm>
          <a:custGeom>
            <a:avLst/>
            <a:gdLst/>
            <a:ahLst/>
            <a:cxnLst/>
            <a:rect l="l" t="t" r="r" b="b"/>
            <a:pathLst>
              <a:path w="6046470" h="5170170">
                <a:moveTo>
                  <a:pt x="76208" y="0"/>
                </a:moveTo>
                <a:lnTo>
                  <a:pt x="5970262" y="0"/>
                </a:lnTo>
                <a:cubicBezTo>
                  <a:pt x="6012350" y="0"/>
                  <a:pt x="6046470" y="34120"/>
                  <a:pt x="6046470" y="76208"/>
                </a:cubicBezTo>
                <a:lnTo>
                  <a:pt x="6046470" y="5093962"/>
                </a:lnTo>
                <a:cubicBezTo>
                  <a:pt x="6046470" y="5136050"/>
                  <a:pt x="6012350" y="5170170"/>
                  <a:pt x="5970262" y="5170170"/>
                </a:cubicBezTo>
                <a:lnTo>
                  <a:pt x="76208" y="5170170"/>
                </a:lnTo>
                <a:cubicBezTo>
                  <a:pt x="34120" y="5170170"/>
                  <a:pt x="0" y="5136050"/>
                  <a:pt x="0" y="509396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13132" y="15697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5668" y="-484"/>
                </a:moveTo>
                <a:cubicBezTo>
                  <a:pt x="99231" y="-4204"/>
                  <a:pt x="91269" y="-4204"/>
                  <a:pt x="84832" y="-484"/>
                </a:cubicBezTo>
                <a:lnTo>
                  <a:pt x="53504" y="17599"/>
                </a:lnTo>
                <a:cubicBezTo>
                  <a:pt x="47067" y="21320"/>
                  <a:pt x="43086" y="28203"/>
                  <a:pt x="43086" y="35644"/>
                </a:cubicBezTo>
                <a:lnTo>
                  <a:pt x="43086" y="73558"/>
                </a:lnTo>
                <a:lnTo>
                  <a:pt x="10232" y="92534"/>
                </a:lnTo>
                <a:cubicBezTo>
                  <a:pt x="3795" y="96255"/>
                  <a:pt x="-186" y="103138"/>
                  <a:pt x="-186" y="110579"/>
                </a:cubicBezTo>
                <a:lnTo>
                  <a:pt x="-186" y="146782"/>
                </a:lnTo>
                <a:cubicBezTo>
                  <a:pt x="-186" y="154223"/>
                  <a:pt x="3795" y="161106"/>
                  <a:pt x="10232" y="164827"/>
                </a:cubicBezTo>
                <a:lnTo>
                  <a:pt x="41597" y="182910"/>
                </a:lnTo>
                <a:cubicBezTo>
                  <a:pt x="48034" y="186630"/>
                  <a:pt x="55997" y="186630"/>
                  <a:pt x="62433" y="182910"/>
                </a:cubicBezTo>
                <a:lnTo>
                  <a:pt x="95287" y="163934"/>
                </a:lnTo>
                <a:lnTo>
                  <a:pt x="128141" y="182910"/>
                </a:lnTo>
                <a:cubicBezTo>
                  <a:pt x="134578" y="186630"/>
                  <a:pt x="142540" y="186630"/>
                  <a:pt x="148977" y="182910"/>
                </a:cubicBezTo>
                <a:lnTo>
                  <a:pt x="180268" y="164827"/>
                </a:lnTo>
                <a:cubicBezTo>
                  <a:pt x="186705" y="161106"/>
                  <a:pt x="190686" y="154223"/>
                  <a:pt x="190686" y="146782"/>
                </a:cubicBezTo>
                <a:lnTo>
                  <a:pt x="190686" y="110579"/>
                </a:lnTo>
                <a:cubicBezTo>
                  <a:pt x="190686" y="103138"/>
                  <a:pt x="186705" y="96255"/>
                  <a:pt x="180268" y="92534"/>
                </a:cubicBezTo>
                <a:lnTo>
                  <a:pt x="147414" y="73558"/>
                </a:lnTo>
                <a:lnTo>
                  <a:pt x="147414" y="35644"/>
                </a:lnTo>
                <a:cubicBezTo>
                  <a:pt x="147414" y="28203"/>
                  <a:pt x="143433" y="21320"/>
                  <a:pt x="136996" y="17599"/>
                </a:cubicBezTo>
                <a:lnTo>
                  <a:pt x="105668" y="-484"/>
                </a:lnTo>
                <a:close/>
                <a:moveTo>
                  <a:pt x="86320" y="108868"/>
                </a:moveTo>
                <a:lnTo>
                  <a:pt x="86320" y="148493"/>
                </a:lnTo>
                <a:lnTo>
                  <a:pt x="53467" y="167469"/>
                </a:lnTo>
                <a:cubicBezTo>
                  <a:pt x="53020" y="167729"/>
                  <a:pt x="52499" y="167878"/>
                  <a:pt x="51978" y="167878"/>
                </a:cubicBezTo>
                <a:lnTo>
                  <a:pt x="51978" y="128699"/>
                </a:lnTo>
                <a:lnTo>
                  <a:pt x="86320" y="108868"/>
                </a:lnTo>
                <a:close/>
                <a:moveTo>
                  <a:pt x="172417" y="109091"/>
                </a:moveTo>
                <a:cubicBezTo>
                  <a:pt x="172678" y="109538"/>
                  <a:pt x="172827" y="110058"/>
                  <a:pt x="172827" y="110579"/>
                </a:cubicBezTo>
                <a:lnTo>
                  <a:pt x="172827" y="146782"/>
                </a:lnTo>
                <a:cubicBezTo>
                  <a:pt x="172827" y="147861"/>
                  <a:pt x="172269" y="148828"/>
                  <a:pt x="171338" y="149349"/>
                </a:cubicBezTo>
                <a:lnTo>
                  <a:pt x="139973" y="167432"/>
                </a:lnTo>
                <a:cubicBezTo>
                  <a:pt x="139526" y="167692"/>
                  <a:pt x="139005" y="167841"/>
                  <a:pt x="138485" y="167841"/>
                </a:cubicBezTo>
                <a:lnTo>
                  <a:pt x="138485" y="128662"/>
                </a:lnTo>
                <a:lnTo>
                  <a:pt x="172417" y="109091"/>
                </a:lnTo>
                <a:close/>
                <a:moveTo>
                  <a:pt x="129592" y="35644"/>
                </a:moveTo>
                <a:lnTo>
                  <a:pt x="129592" y="73558"/>
                </a:lnTo>
                <a:lnTo>
                  <a:pt x="95250" y="93390"/>
                </a:lnTo>
                <a:lnTo>
                  <a:pt x="95250" y="53764"/>
                </a:lnTo>
                <a:lnTo>
                  <a:pt x="129183" y="34193"/>
                </a:lnTo>
                <a:cubicBezTo>
                  <a:pt x="129443" y="34640"/>
                  <a:pt x="129592" y="35161"/>
                  <a:pt x="129592" y="3568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4" name="Text 22"/>
          <p:cNvSpPr/>
          <p:nvPr/>
        </p:nvSpPr>
        <p:spPr>
          <a:xfrm>
            <a:off x="6341745" y="153162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涵盖模块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93130" y="1992630"/>
            <a:ext cx="2712720" cy="1207770"/>
          </a:xfrm>
          <a:custGeom>
            <a:avLst/>
            <a:gdLst/>
            <a:ahLst/>
            <a:cxnLst/>
            <a:rect l="l" t="t" r="r" b="b"/>
            <a:pathLst>
              <a:path w="2712720" h="1207770">
                <a:moveTo>
                  <a:pt x="76198" y="0"/>
                </a:moveTo>
                <a:lnTo>
                  <a:pt x="2636522" y="0"/>
                </a:lnTo>
                <a:cubicBezTo>
                  <a:pt x="2678605" y="0"/>
                  <a:pt x="2712720" y="34115"/>
                  <a:pt x="2712720" y="76198"/>
                </a:cubicBezTo>
                <a:lnTo>
                  <a:pt x="2712720" y="1131572"/>
                </a:lnTo>
                <a:cubicBezTo>
                  <a:pt x="2712720" y="1173655"/>
                  <a:pt x="2678605" y="1207770"/>
                  <a:pt x="26365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149340" y="2148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56497" y="225361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8" name="Text 26"/>
          <p:cNvSpPr/>
          <p:nvPr/>
        </p:nvSpPr>
        <p:spPr>
          <a:xfrm>
            <a:off x="6644640" y="220599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49340" y="2606041"/>
            <a:ext cx="2466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进程创建、状态转换、撤销，并发执行与时间片轮转调度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62060" y="1992630"/>
            <a:ext cx="2712720" cy="1207770"/>
          </a:xfrm>
          <a:custGeom>
            <a:avLst/>
            <a:gdLst/>
            <a:ahLst/>
            <a:cxnLst/>
            <a:rect l="l" t="t" r="r" b="b"/>
            <a:pathLst>
              <a:path w="2712720" h="1207770">
                <a:moveTo>
                  <a:pt x="76198" y="0"/>
                </a:moveTo>
                <a:lnTo>
                  <a:pt x="2636522" y="0"/>
                </a:lnTo>
                <a:cubicBezTo>
                  <a:pt x="2678605" y="0"/>
                  <a:pt x="2712720" y="34115"/>
                  <a:pt x="2712720" y="76198"/>
                </a:cubicBezTo>
                <a:lnTo>
                  <a:pt x="2712720" y="1131572"/>
                </a:lnTo>
                <a:cubicBezTo>
                  <a:pt x="2712720" y="1173655"/>
                  <a:pt x="2678605" y="1207770"/>
                  <a:pt x="26365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8270" y="2148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125426" y="225361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9611" y="21431"/>
                  <a:pt x="0" y="31042"/>
                  <a:pt x="0" y="42863"/>
                </a:cubicBezTo>
                <a:lnTo>
                  <a:pt x="0" y="45340"/>
                </a:lnTo>
                <a:cubicBezTo>
                  <a:pt x="0" y="47618"/>
                  <a:pt x="1473" y="49560"/>
                  <a:pt x="3382" y="50799"/>
                </a:cubicBezTo>
                <a:cubicBezTo>
                  <a:pt x="7802" y="53679"/>
                  <a:pt x="10716" y="58635"/>
                  <a:pt x="10716" y="64294"/>
                </a:cubicBezTo>
                <a:cubicBezTo>
                  <a:pt x="10716" y="69953"/>
                  <a:pt x="7802" y="74909"/>
                  <a:pt x="3382" y="77789"/>
                </a:cubicBezTo>
                <a:cubicBezTo>
                  <a:pt x="1473" y="79028"/>
                  <a:pt x="0" y="80970"/>
                  <a:pt x="0" y="83247"/>
                </a:cubicBezTo>
                <a:lnTo>
                  <a:pt x="0" y="101798"/>
                </a:lnTo>
                <a:lnTo>
                  <a:pt x="171450" y="101798"/>
                </a:lnTo>
                <a:lnTo>
                  <a:pt x="171450" y="83247"/>
                </a:lnTo>
                <a:cubicBezTo>
                  <a:pt x="171450" y="80970"/>
                  <a:pt x="169977" y="79028"/>
                  <a:pt x="168068" y="77789"/>
                </a:cubicBezTo>
                <a:cubicBezTo>
                  <a:pt x="163648" y="74909"/>
                  <a:pt x="160734" y="69953"/>
                  <a:pt x="160734" y="64294"/>
                </a:cubicBezTo>
                <a:cubicBezTo>
                  <a:pt x="160734" y="58635"/>
                  <a:pt x="163648" y="53679"/>
                  <a:pt x="168068" y="50799"/>
                </a:cubicBezTo>
                <a:cubicBezTo>
                  <a:pt x="169977" y="49560"/>
                  <a:pt x="171450" y="47618"/>
                  <a:pt x="171450" y="45340"/>
                </a:cubicBezTo>
                <a:lnTo>
                  <a:pt x="171450" y="42862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lose/>
                <a:moveTo>
                  <a:pt x="171450" y="139303"/>
                </a:moveTo>
                <a:lnTo>
                  <a:pt x="171450" y="117872"/>
                </a:lnTo>
                <a:lnTo>
                  <a:pt x="0" y="117872"/>
                </a:lnTo>
                <a:lnTo>
                  <a:pt x="0" y="139303"/>
                </a:lnTo>
                <a:cubicBezTo>
                  <a:pt x="0" y="145230"/>
                  <a:pt x="4789" y="150019"/>
                  <a:pt x="10716" y="150019"/>
                </a:cubicBezTo>
                <a:lnTo>
                  <a:pt x="32147" y="150019"/>
                </a:lnTo>
                <a:lnTo>
                  <a:pt x="32147" y="141982"/>
                </a:lnTo>
                <a:cubicBezTo>
                  <a:pt x="32147" y="137528"/>
                  <a:pt x="35730" y="133945"/>
                  <a:pt x="40184" y="133945"/>
                </a:cubicBezTo>
                <a:cubicBezTo>
                  <a:pt x="44637" y="133945"/>
                  <a:pt x="48220" y="137528"/>
                  <a:pt x="48220" y="141982"/>
                </a:cubicBezTo>
                <a:lnTo>
                  <a:pt x="48220" y="150019"/>
                </a:lnTo>
                <a:lnTo>
                  <a:pt x="77688" y="150019"/>
                </a:lnTo>
                <a:lnTo>
                  <a:pt x="77688" y="141982"/>
                </a:lnTo>
                <a:cubicBezTo>
                  <a:pt x="77688" y="137528"/>
                  <a:pt x="81271" y="133945"/>
                  <a:pt x="85725" y="133945"/>
                </a:cubicBezTo>
                <a:cubicBezTo>
                  <a:pt x="90179" y="133945"/>
                  <a:pt x="93762" y="137528"/>
                  <a:pt x="93762" y="141982"/>
                </a:cubicBezTo>
                <a:lnTo>
                  <a:pt x="93762" y="150019"/>
                </a:lnTo>
                <a:lnTo>
                  <a:pt x="123230" y="150019"/>
                </a:lnTo>
                <a:lnTo>
                  <a:pt x="123230" y="141982"/>
                </a:lnTo>
                <a:cubicBezTo>
                  <a:pt x="123230" y="137528"/>
                  <a:pt x="126813" y="133945"/>
                  <a:pt x="131266" y="133945"/>
                </a:cubicBezTo>
                <a:cubicBezTo>
                  <a:pt x="135720" y="133945"/>
                  <a:pt x="139303" y="137528"/>
                  <a:pt x="139303" y="141982"/>
                </a:cubicBezTo>
                <a:lnTo>
                  <a:pt x="139303" y="150019"/>
                </a:lnTo>
                <a:lnTo>
                  <a:pt x="160734" y="150019"/>
                </a:lnTo>
                <a:cubicBezTo>
                  <a:pt x="166661" y="150019"/>
                  <a:pt x="171450" y="145230"/>
                  <a:pt x="171450" y="139303"/>
                </a:cubicBezTo>
                <a:close/>
                <a:moveTo>
                  <a:pt x="53578" y="53578"/>
                </a:moveTo>
                <a:lnTo>
                  <a:pt x="53578" y="75009"/>
                </a:lnTo>
                <a:cubicBezTo>
                  <a:pt x="53578" y="80936"/>
                  <a:pt x="48790" y="85725"/>
                  <a:pt x="42863" y="85725"/>
                </a:cubicBezTo>
                <a:cubicBezTo>
                  <a:pt x="36935" y="85725"/>
                  <a:pt x="32147" y="80936"/>
                  <a:pt x="32147" y="75009"/>
                </a:cubicBezTo>
                <a:lnTo>
                  <a:pt x="32147" y="53578"/>
                </a:lnTo>
                <a:cubicBezTo>
                  <a:pt x="32147" y="47651"/>
                  <a:pt x="36935" y="42863"/>
                  <a:pt x="42863" y="42863"/>
                </a:cubicBezTo>
                <a:cubicBezTo>
                  <a:pt x="48790" y="42863"/>
                  <a:pt x="53578" y="47651"/>
                  <a:pt x="53578" y="53578"/>
                </a:cubicBezTo>
                <a:close/>
                <a:moveTo>
                  <a:pt x="96441" y="53578"/>
                </a:moveTo>
                <a:lnTo>
                  <a:pt x="96441" y="75009"/>
                </a:lnTo>
                <a:cubicBezTo>
                  <a:pt x="96441" y="80936"/>
                  <a:pt x="91652" y="85725"/>
                  <a:pt x="85725" y="85725"/>
                </a:cubicBezTo>
                <a:cubicBezTo>
                  <a:pt x="79798" y="85725"/>
                  <a:pt x="75009" y="80936"/>
                  <a:pt x="75009" y="75009"/>
                </a:cubicBezTo>
                <a:lnTo>
                  <a:pt x="75009" y="53578"/>
                </a:lnTo>
                <a:cubicBezTo>
                  <a:pt x="75009" y="47651"/>
                  <a:pt x="79798" y="42863"/>
                  <a:pt x="85725" y="42863"/>
                </a:cubicBezTo>
                <a:cubicBezTo>
                  <a:pt x="91652" y="42863"/>
                  <a:pt x="96441" y="47651"/>
                  <a:pt x="96441" y="53578"/>
                </a:cubicBezTo>
                <a:close/>
                <a:moveTo>
                  <a:pt x="139303" y="53578"/>
                </a:moveTo>
                <a:lnTo>
                  <a:pt x="139303" y="75009"/>
                </a:lnTo>
                <a:cubicBezTo>
                  <a:pt x="139303" y="80936"/>
                  <a:pt x="134515" y="85725"/>
                  <a:pt x="128588" y="85725"/>
                </a:cubicBezTo>
                <a:cubicBezTo>
                  <a:pt x="122660" y="85725"/>
                  <a:pt x="117872" y="80936"/>
                  <a:pt x="117872" y="75009"/>
                </a:cubicBezTo>
                <a:lnTo>
                  <a:pt x="117872" y="53578"/>
                </a:lnTo>
                <a:cubicBezTo>
                  <a:pt x="117872" y="47651"/>
                  <a:pt x="122660" y="42863"/>
                  <a:pt x="128588" y="42863"/>
                </a:cubicBezTo>
                <a:cubicBezTo>
                  <a:pt x="134515" y="42863"/>
                  <a:pt x="139303" y="47651"/>
                  <a:pt x="139303" y="5357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9513570" y="220599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18270" y="2606041"/>
            <a:ext cx="2466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虚拟内存、分页机制、页面置换算法、内存分配回收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93130" y="3355659"/>
            <a:ext cx="2712720" cy="1207770"/>
          </a:xfrm>
          <a:custGeom>
            <a:avLst/>
            <a:gdLst/>
            <a:ahLst/>
            <a:cxnLst/>
            <a:rect l="l" t="t" r="r" b="b"/>
            <a:pathLst>
              <a:path w="2712720" h="1207770">
                <a:moveTo>
                  <a:pt x="76198" y="0"/>
                </a:moveTo>
                <a:lnTo>
                  <a:pt x="2636522" y="0"/>
                </a:lnTo>
                <a:cubicBezTo>
                  <a:pt x="2678605" y="0"/>
                  <a:pt x="2712720" y="34115"/>
                  <a:pt x="2712720" y="76198"/>
                </a:cubicBezTo>
                <a:lnTo>
                  <a:pt x="2712720" y="1131572"/>
                </a:lnTo>
                <a:cubicBezTo>
                  <a:pt x="2712720" y="1173655"/>
                  <a:pt x="2678605" y="1207770"/>
                  <a:pt x="26365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149340" y="35118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45781" y="3616642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8" name="Text 36"/>
          <p:cNvSpPr/>
          <p:nvPr/>
        </p:nvSpPr>
        <p:spPr>
          <a:xfrm>
            <a:off x="6644640" y="3569017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49340" y="3969067"/>
            <a:ext cx="2466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目录管理、inode 结构、位图管理、格式化与挂载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62060" y="3355659"/>
            <a:ext cx="2712720" cy="1207770"/>
          </a:xfrm>
          <a:custGeom>
            <a:avLst/>
            <a:gdLst/>
            <a:ahLst/>
            <a:cxnLst/>
            <a:rect l="l" t="t" r="r" b="b"/>
            <a:pathLst>
              <a:path w="2712720" h="1207770">
                <a:moveTo>
                  <a:pt x="76198" y="0"/>
                </a:moveTo>
                <a:lnTo>
                  <a:pt x="2636522" y="0"/>
                </a:lnTo>
                <a:cubicBezTo>
                  <a:pt x="2678605" y="0"/>
                  <a:pt x="2712720" y="34115"/>
                  <a:pt x="2712720" y="76198"/>
                </a:cubicBezTo>
                <a:lnTo>
                  <a:pt x="2712720" y="1131572"/>
                </a:lnTo>
                <a:cubicBezTo>
                  <a:pt x="2712720" y="1173655"/>
                  <a:pt x="2678605" y="1207770"/>
                  <a:pt x="2636522" y="1207770"/>
                </a:cubicBezTo>
                <a:lnTo>
                  <a:pt x="76198" y="1207770"/>
                </a:lnTo>
                <a:cubicBezTo>
                  <a:pt x="34115" y="1207770"/>
                  <a:pt x="0" y="1173655"/>
                  <a:pt x="0" y="11315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18270" y="35118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136142" y="361664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87098"/>
                </a:lnTo>
                <a:cubicBezTo>
                  <a:pt x="6061" y="82845"/>
                  <a:pt x="13462" y="80367"/>
                  <a:pt x="21431" y="80367"/>
                </a:cubicBezTo>
                <a:lnTo>
                  <a:pt x="128588" y="80367"/>
                </a:lnTo>
                <a:cubicBezTo>
                  <a:pt x="136557" y="80367"/>
                  <a:pt x="143958" y="82845"/>
                  <a:pt x="150019" y="8709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150019" y="117872"/>
                </a:move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lose/>
                <a:moveTo>
                  <a:pt x="75009" y="128588"/>
                </a:moveTo>
                <a:cubicBezTo>
                  <a:pt x="75009" y="122673"/>
                  <a:pt x="79811" y="117872"/>
                  <a:pt x="85725" y="117872"/>
                </a:cubicBezTo>
                <a:cubicBezTo>
                  <a:pt x="91639" y="117872"/>
                  <a:pt x="96441" y="122673"/>
                  <a:pt x="96441" y="128588"/>
                </a:cubicBezTo>
                <a:cubicBezTo>
                  <a:pt x="96441" y="134502"/>
                  <a:pt x="91639" y="139303"/>
                  <a:pt x="85725" y="139303"/>
                </a:cubicBezTo>
                <a:cubicBezTo>
                  <a:pt x="79811" y="139303"/>
                  <a:pt x="75009" y="134502"/>
                  <a:pt x="75009" y="128588"/>
                </a:cubicBezTo>
                <a:close/>
                <a:moveTo>
                  <a:pt x="117872" y="117872"/>
                </a:moveTo>
                <a:cubicBezTo>
                  <a:pt x="123786" y="117872"/>
                  <a:pt x="128588" y="122673"/>
                  <a:pt x="128588" y="128588"/>
                </a:cubicBezTo>
                <a:cubicBezTo>
                  <a:pt x="128588" y="134502"/>
                  <a:pt x="123786" y="139303"/>
                  <a:pt x="117872" y="139303"/>
                </a:cubicBezTo>
                <a:cubicBezTo>
                  <a:pt x="111958" y="139303"/>
                  <a:pt x="107156" y="134502"/>
                  <a:pt x="107156" y="128588"/>
                </a:cubicBezTo>
                <a:cubicBezTo>
                  <a:pt x="107156" y="122673"/>
                  <a:pt x="111958" y="117872"/>
                  <a:pt x="117872" y="1178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3" name="Text 41"/>
          <p:cNvSpPr/>
          <p:nvPr/>
        </p:nvSpPr>
        <p:spPr>
          <a:xfrm>
            <a:off x="9513570" y="3569017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设备管理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18270" y="3969067"/>
            <a:ext cx="2466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磁盘设备模拟、块读写操作、设备分配回收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93130" y="4718685"/>
            <a:ext cx="5579745" cy="988695"/>
          </a:xfrm>
          <a:custGeom>
            <a:avLst/>
            <a:gdLst/>
            <a:ahLst/>
            <a:cxnLst/>
            <a:rect l="l" t="t" r="r" b="b"/>
            <a:pathLst>
              <a:path w="5579745" h="988695">
                <a:moveTo>
                  <a:pt x="76199" y="0"/>
                </a:moveTo>
                <a:lnTo>
                  <a:pt x="5503546" y="0"/>
                </a:lnTo>
                <a:cubicBezTo>
                  <a:pt x="5545630" y="0"/>
                  <a:pt x="5579745" y="34115"/>
                  <a:pt x="5579745" y="76199"/>
                </a:cubicBezTo>
                <a:lnTo>
                  <a:pt x="5579745" y="912496"/>
                </a:lnTo>
                <a:cubicBezTo>
                  <a:pt x="5579745" y="954580"/>
                  <a:pt x="5545630" y="988695"/>
                  <a:pt x="5503546" y="988695"/>
                </a:cubicBezTo>
                <a:lnTo>
                  <a:pt x="76199" y="988695"/>
                </a:lnTo>
                <a:cubicBezTo>
                  <a:pt x="34144" y="988695"/>
                  <a:pt x="0" y="954551"/>
                  <a:pt x="0" y="91249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149340" y="48748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56497" y="497967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148" y="39715"/>
                </a:moveTo>
                <a:cubicBezTo>
                  <a:pt x="-1038" y="35529"/>
                  <a:pt x="-1038" y="28731"/>
                  <a:pt x="3148" y="24545"/>
                </a:cubicBezTo>
                <a:cubicBezTo>
                  <a:pt x="7334" y="20360"/>
                  <a:pt x="14131" y="20360"/>
                  <a:pt x="18317" y="24545"/>
                </a:cubicBezTo>
                <a:lnTo>
                  <a:pt x="71895" y="78124"/>
                </a:lnTo>
                <a:cubicBezTo>
                  <a:pt x="76081" y="82309"/>
                  <a:pt x="76081" y="89107"/>
                  <a:pt x="71895" y="93293"/>
                </a:cubicBezTo>
                <a:lnTo>
                  <a:pt x="18317" y="146871"/>
                </a:lnTo>
                <a:cubicBezTo>
                  <a:pt x="14131" y="151057"/>
                  <a:pt x="7334" y="151057"/>
                  <a:pt x="3148" y="146871"/>
                </a:cubicBezTo>
                <a:cubicBezTo>
                  <a:pt x="-1038" y="142685"/>
                  <a:pt x="-1038" y="135888"/>
                  <a:pt x="3148" y="131702"/>
                </a:cubicBezTo>
                <a:lnTo>
                  <a:pt x="49124" y="85725"/>
                </a:lnTo>
                <a:lnTo>
                  <a:pt x="3148" y="39715"/>
                </a:ln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8" name="Text 46"/>
          <p:cNvSpPr/>
          <p:nvPr/>
        </p:nvSpPr>
        <p:spPr>
          <a:xfrm>
            <a:off x="6644640" y="4932045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交互界面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49340" y="5332095"/>
            <a:ext cx="5334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命令行交互、15+ 条系统命令、脚本批处理功能、实时状态可视化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331CB-E766-1408-3ED4-59BDE37D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F36692-DB86-9075-2BA7-04BD781046A7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</a:rPr>
              <a:t>PERSONNEL DIVISION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BFD58A-9777-50E0-A43C-C2A6BEB1AF30}"/>
              </a:ext>
            </a:extLst>
          </p:cNvPr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</a:rPr>
              <a:t>人员分工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96F8B6-41F6-32E6-5271-9E1826BADDE4}"/>
              </a:ext>
            </a:extLst>
          </p:cNvPr>
          <p:cNvSpPr/>
          <p:nvPr/>
        </p:nvSpPr>
        <p:spPr>
          <a:xfrm>
            <a:off x="360997" y="1252151"/>
            <a:ext cx="3807499" cy="5224849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D6A5B8-F53B-B7B3-B95A-B3389045D020}"/>
              </a:ext>
            </a:extLst>
          </p:cNvPr>
          <p:cNvSpPr/>
          <p:nvPr/>
        </p:nvSpPr>
        <p:spPr>
          <a:xfrm>
            <a:off x="1055370" y="1500962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</a:rPr>
              <a:t>王景冉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BA8DFBC-EA5F-7EE7-BFD4-F77C168F10C0}"/>
              </a:ext>
            </a:extLst>
          </p:cNvPr>
          <p:cNvSpPr/>
          <p:nvPr/>
        </p:nvSpPr>
        <p:spPr>
          <a:xfrm>
            <a:off x="541020" y="20289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2D5B10-5FA4-6B54-31DC-263D4725B06D}"/>
              </a:ext>
            </a:extLst>
          </p:cNvPr>
          <p:cNvSpPr/>
          <p:nvPr/>
        </p:nvSpPr>
        <p:spPr>
          <a:xfrm>
            <a:off x="2101453" y="1526379"/>
            <a:ext cx="16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进程管理 </a:t>
            </a:r>
            <a:r>
              <a:rPr lang="en-US" altLang="zh-CN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+ Shell </a:t>
            </a: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界面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EA90EC-AA41-07FB-C7AB-403AD7DE8AA9}"/>
              </a:ext>
            </a:extLst>
          </p:cNvPr>
          <p:cNvSpPr/>
          <p:nvPr/>
        </p:nvSpPr>
        <p:spPr>
          <a:xfrm>
            <a:off x="703060" y="2290532"/>
            <a:ext cx="3456868" cy="109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PCB </a:t>
            </a:r>
            <a:r>
              <a:rPr lang="zh-CN" altLang="en-US" sz="1200" dirty="0">
                <a:solidFill>
                  <a:schemeClr val="bg1"/>
                </a:solidFill>
              </a:rPr>
              <a:t>数据结构设计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进程状态管理（</a:t>
            </a:r>
            <a:r>
              <a:rPr lang="en-US" altLang="zh-CN" sz="1200" dirty="0">
                <a:solidFill>
                  <a:schemeClr val="bg1"/>
                </a:solidFill>
              </a:rPr>
              <a:t>Ready/Running/Blocked/Terminated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时间片轮转调度算法实现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进程创建和终止逻辑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进程队列管理（就绪队列、阻塞队列）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6DBE89C-3B5D-7643-BE99-47FB46379013}"/>
              </a:ext>
            </a:extLst>
          </p:cNvPr>
          <p:cNvSpPr/>
          <p:nvPr/>
        </p:nvSpPr>
        <p:spPr>
          <a:xfrm>
            <a:off x="598170" y="34999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1F96C2-97DD-1A46-0817-17F0CFB50AAA}"/>
              </a:ext>
            </a:extLst>
          </p:cNvPr>
          <p:cNvSpPr/>
          <p:nvPr/>
        </p:nvSpPr>
        <p:spPr>
          <a:xfrm>
            <a:off x="883920" y="3461887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指令系统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17054D-F351-AA4E-A2ED-AE961862CFAB}"/>
              </a:ext>
            </a:extLst>
          </p:cNvPr>
          <p:cNvSpPr/>
          <p:nvPr/>
        </p:nvSpPr>
        <p:spPr>
          <a:xfrm>
            <a:off x="672593" y="3695417"/>
            <a:ext cx="1809750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10 </a:t>
            </a:r>
            <a:r>
              <a:rPr lang="zh-CN" altLang="en-US" sz="1200" dirty="0">
                <a:solidFill>
                  <a:schemeClr val="bg1"/>
                </a:solidFill>
              </a:rPr>
              <a:t>种指令类型定义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指令解析（</a:t>
            </a:r>
            <a:r>
              <a:rPr lang="en-US" altLang="zh-CN" sz="1200" dirty="0">
                <a:solidFill>
                  <a:schemeClr val="bg1"/>
                </a:solidFill>
              </a:rPr>
              <a:t>.pc </a:t>
            </a:r>
            <a:r>
              <a:rPr lang="zh-CN" altLang="en-US" sz="1200" dirty="0">
                <a:solidFill>
                  <a:schemeClr val="bg1"/>
                </a:solidFill>
              </a:rPr>
              <a:t>文件）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指令执行逻辑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程序计数器（</a:t>
            </a:r>
            <a:r>
              <a:rPr lang="en-US" altLang="zh-CN" sz="1200" dirty="0">
                <a:solidFill>
                  <a:schemeClr val="bg1"/>
                </a:solidFill>
              </a:rPr>
              <a:t>PC</a:t>
            </a:r>
            <a:r>
              <a:rPr lang="zh-CN" altLang="en-US" sz="1200" dirty="0">
                <a:solidFill>
                  <a:schemeClr val="bg1"/>
                </a:solidFill>
              </a:rPr>
              <a:t>）管理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A56136E-1AE0-ADDD-BE45-35D985A192AE}"/>
              </a:ext>
            </a:extLst>
          </p:cNvPr>
          <p:cNvSpPr/>
          <p:nvPr/>
        </p:nvSpPr>
        <p:spPr>
          <a:xfrm>
            <a:off x="4282797" y="1252151"/>
            <a:ext cx="3740709" cy="5224849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DE75475-061D-82FD-3E25-8EF53BBF7555}"/>
              </a:ext>
            </a:extLst>
          </p:cNvPr>
          <p:cNvSpPr/>
          <p:nvPr/>
        </p:nvSpPr>
        <p:spPr>
          <a:xfrm>
            <a:off x="4382927" y="13854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EE0BBE5-836A-D670-518A-02266232EE00}"/>
              </a:ext>
            </a:extLst>
          </p:cNvPr>
          <p:cNvSpPr/>
          <p:nvPr/>
        </p:nvSpPr>
        <p:spPr>
          <a:xfrm>
            <a:off x="4516277" y="15188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C4B473E-9B9B-1C3C-8948-C554418B5535}"/>
              </a:ext>
            </a:extLst>
          </p:cNvPr>
          <p:cNvSpPr/>
          <p:nvPr/>
        </p:nvSpPr>
        <p:spPr>
          <a:xfrm>
            <a:off x="4954428" y="1480718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张金涛</a:t>
            </a:r>
            <a:endParaRPr lang="en-US" sz="1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893CE97-25D8-540B-2CC8-0E7394823FC7}"/>
              </a:ext>
            </a:extLst>
          </p:cNvPr>
          <p:cNvSpPr/>
          <p:nvPr/>
        </p:nvSpPr>
        <p:spPr>
          <a:xfrm>
            <a:off x="8146375" y="1252150"/>
            <a:ext cx="3674745" cy="5224849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CD2EFFB-5644-527D-4E0B-9E4D05F9184B}"/>
              </a:ext>
            </a:extLst>
          </p:cNvPr>
          <p:cNvSpPr/>
          <p:nvPr/>
        </p:nvSpPr>
        <p:spPr>
          <a:xfrm>
            <a:off x="8833993" y="1515207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密政奇</a:t>
            </a:r>
            <a:endParaRPr lang="en-US" sz="1600" dirty="0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E16831A8-E035-2D0D-8FCA-A1CD5FCAD365}"/>
              </a:ext>
            </a:extLst>
          </p:cNvPr>
          <p:cNvSpPr/>
          <p:nvPr/>
        </p:nvSpPr>
        <p:spPr>
          <a:xfrm>
            <a:off x="483870" y="13864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C5D75F20-AAA2-6206-E948-4A0DD03848C4}"/>
              </a:ext>
            </a:extLst>
          </p:cNvPr>
          <p:cNvSpPr/>
          <p:nvPr/>
        </p:nvSpPr>
        <p:spPr>
          <a:xfrm>
            <a:off x="617220" y="15197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59E24B4D-695A-B461-801E-5DF439272E16}"/>
              </a:ext>
            </a:extLst>
          </p:cNvPr>
          <p:cNvSpPr/>
          <p:nvPr/>
        </p:nvSpPr>
        <p:spPr>
          <a:xfrm>
            <a:off x="8279410" y="13864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D35B9569-1CA3-AB33-F39C-65ECB09B9EB2}"/>
              </a:ext>
            </a:extLst>
          </p:cNvPr>
          <p:cNvSpPr/>
          <p:nvPr/>
        </p:nvSpPr>
        <p:spPr>
          <a:xfrm>
            <a:off x="8412760" y="15197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57CC025-0516-B1B6-0432-700D1A6257C1}"/>
              </a:ext>
            </a:extLst>
          </p:cNvPr>
          <p:cNvSpPr/>
          <p:nvPr/>
        </p:nvSpPr>
        <p:spPr>
          <a:xfrm>
            <a:off x="6181725" y="1486764"/>
            <a:ext cx="16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内存管理 </a:t>
            </a:r>
            <a:r>
              <a:rPr lang="en-US" altLang="zh-CN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+ </a:t>
            </a: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设备管理</a:t>
            </a:r>
            <a:endParaRPr lang="en-US" sz="16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50B6545-68C7-08EA-3D53-21EE44CA11B5}"/>
              </a:ext>
            </a:extLst>
          </p:cNvPr>
          <p:cNvSpPr/>
          <p:nvPr/>
        </p:nvSpPr>
        <p:spPr>
          <a:xfrm>
            <a:off x="10371428" y="1474438"/>
            <a:ext cx="16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文件系统 </a:t>
            </a:r>
            <a:r>
              <a:rPr lang="en-US" altLang="zh-CN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+ </a:t>
            </a: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测试文档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0C84CEA-9976-2F7E-89D0-A43211D98468}"/>
              </a:ext>
            </a:extLst>
          </p:cNvPr>
          <p:cNvSpPr/>
          <p:nvPr/>
        </p:nvSpPr>
        <p:spPr>
          <a:xfrm>
            <a:off x="807720" y="1990881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进程管理核心</a:t>
            </a:r>
            <a:endParaRPr lang="en-US" sz="16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262581-86CE-330C-C388-E243DF901E03}"/>
              </a:ext>
            </a:extLst>
          </p:cNvPr>
          <p:cNvSpPr/>
          <p:nvPr/>
        </p:nvSpPr>
        <p:spPr>
          <a:xfrm>
            <a:off x="617220" y="47922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5653C15-ABB2-E601-8C40-6E26349D676B}"/>
              </a:ext>
            </a:extLst>
          </p:cNvPr>
          <p:cNvSpPr/>
          <p:nvPr/>
        </p:nvSpPr>
        <p:spPr>
          <a:xfrm>
            <a:off x="902970" y="4754199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进程调度</a:t>
            </a:r>
            <a:endParaRPr lang="en-US" sz="16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B4B48FFB-4801-5960-30BA-E7F538275EEA}"/>
              </a:ext>
            </a:extLst>
          </p:cNvPr>
          <p:cNvSpPr/>
          <p:nvPr/>
        </p:nvSpPr>
        <p:spPr>
          <a:xfrm>
            <a:off x="691643" y="4987729"/>
            <a:ext cx="1809750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tick() </a:t>
            </a:r>
            <a:r>
              <a:rPr lang="zh-CN" altLang="en-US" sz="1200" dirty="0">
                <a:solidFill>
                  <a:schemeClr val="bg1"/>
                </a:solidFill>
              </a:rPr>
              <a:t>函数实现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进程切换逻辑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时间片管理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进程统计信息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F3561DB0-006B-3F9C-FF4D-13EB368BA3BB}"/>
              </a:ext>
            </a:extLst>
          </p:cNvPr>
          <p:cNvSpPr/>
          <p:nvPr/>
        </p:nvSpPr>
        <p:spPr>
          <a:xfrm>
            <a:off x="4402930" y="20335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5BD84A9-80B8-3BA1-EDE6-D9BC979C376A}"/>
              </a:ext>
            </a:extLst>
          </p:cNvPr>
          <p:cNvSpPr/>
          <p:nvPr/>
        </p:nvSpPr>
        <p:spPr>
          <a:xfrm>
            <a:off x="4564970" y="2295064"/>
            <a:ext cx="3456868" cy="109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页表数据结构（</a:t>
            </a:r>
            <a:r>
              <a:rPr lang="en-US" altLang="zh-CN" sz="1200" dirty="0" err="1">
                <a:solidFill>
                  <a:schemeClr val="bg1"/>
                </a:solidFill>
              </a:rPr>
              <a:t>PageTableEntry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每进程独立页表管理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虚拟地址到物理地址转换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页表项标志位（</a:t>
            </a:r>
            <a:r>
              <a:rPr lang="en-US" altLang="zh-CN" sz="1200" dirty="0">
                <a:solidFill>
                  <a:schemeClr val="bg1"/>
                </a:solidFill>
              </a:rPr>
              <a:t>present, dirty, referenced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B04028B0-2416-4F6B-70A4-AAC5FB835A13}"/>
              </a:ext>
            </a:extLst>
          </p:cNvPr>
          <p:cNvSpPr/>
          <p:nvPr/>
        </p:nvSpPr>
        <p:spPr>
          <a:xfrm>
            <a:off x="4460080" y="35045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62EEBB60-CA69-A5F6-2CD9-893F0F61D11A}"/>
              </a:ext>
            </a:extLst>
          </p:cNvPr>
          <p:cNvSpPr/>
          <p:nvPr/>
        </p:nvSpPr>
        <p:spPr>
          <a:xfrm>
            <a:off x="4745830" y="3466419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物理内存管理</a:t>
            </a:r>
            <a:endParaRPr lang="en-US" sz="16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924C0C2-C192-91D1-21CA-FFBD60A06E84}"/>
              </a:ext>
            </a:extLst>
          </p:cNvPr>
          <p:cNvSpPr/>
          <p:nvPr/>
        </p:nvSpPr>
        <p:spPr>
          <a:xfrm>
            <a:off x="4534503" y="3699949"/>
            <a:ext cx="1809750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页框（</a:t>
            </a:r>
            <a:r>
              <a:rPr lang="en-US" altLang="zh-CN" sz="1200" dirty="0">
                <a:solidFill>
                  <a:schemeClr val="bg1"/>
                </a:solidFill>
              </a:rPr>
              <a:t>Frame</a:t>
            </a:r>
            <a:r>
              <a:rPr lang="zh-CN" altLang="en-US" sz="1200" dirty="0">
                <a:solidFill>
                  <a:schemeClr val="bg1"/>
                </a:solidFill>
              </a:rPr>
              <a:t>）数据结构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页框分配和释放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页框信息管理（</a:t>
            </a:r>
            <a:r>
              <a:rPr lang="en-US" altLang="zh-CN" sz="1200" dirty="0" err="1">
                <a:solidFill>
                  <a:schemeClr val="bg1"/>
                </a:solidFill>
              </a:rPr>
              <a:t>FrameInfo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物理内存可视化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14AB5F43-D6B5-F648-B6FC-3504297AAF38}"/>
              </a:ext>
            </a:extLst>
          </p:cNvPr>
          <p:cNvSpPr/>
          <p:nvPr/>
        </p:nvSpPr>
        <p:spPr>
          <a:xfrm>
            <a:off x="4669630" y="199541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虚拟内存机制</a:t>
            </a:r>
            <a:endParaRPr lang="en-US" sz="160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A95DA996-188C-15AB-59F1-FFA021CFB7D9}"/>
              </a:ext>
            </a:extLst>
          </p:cNvPr>
          <p:cNvSpPr/>
          <p:nvPr/>
        </p:nvSpPr>
        <p:spPr>
          <a:xfrm>
            <a:off x="4479130" y="47968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5BC501F1-2453-8F85-0AA4-4655FA64DF76}"/>
              </a:ext>
            </a:extLst>
          </p:cNvPr>
          <p:cNvSpPr/>
          <p:nvPr/>
        </p:nvSpPr>
        <p:spPr>
          <a:xfrm>
            <a:off x="4764880" y="4758731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页面置换算法</a:t>
            </a:r>
            <a:endParaRPr lang="en-US" sz="16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054FFFEA-E02A-BC90-4D8D-0A98CD673CB1}"/>
              </a:ext>
            </a:extLst>
          </p:cNvPr>
          <p:cNvSpPr/>
          <p:nvPr/>
        </p:nvSpPr>
        <p:spPr>
          <a:xfrm>
            <a:off x="4553553" y="4992261"/>
            <a:ext cx="1809750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Clock </a:t>
            </a:r>
            <a:r>
              <a:rPr lang="zh-CN" altLang="en-US" sz="1200" dirty="0">
                <a:solidFill>
                  <a:schemeClr val="bg1"/>
                </a:solidFill>
              </a:rPr>
              <a:t>算法实现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clock </a:t>
            </a:r>
            <a:r>
              <a:rPr lang="zh-CN" altLang="en-US" sz="1200" dirty="0">
                <a:solidFill>
                  <a:schemeClr val="bg1"/>
                </a:solidFill>
              </a:rPr>
              <a:t>指针管理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牺牲页选择逻辑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脏页写回磁盘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749CE074-D735-9382-B335-281C304BE6A6}"/>
              </a:ext>
            </a:extLst>
          </p:cNvPr>
          <p:cNvSpPr/>
          <p:nvPr/>
        </p:nvSpPr>
        <p:spPr>
          <a:xfrm>
            <a:off x="5944772" y="47769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58FE21F6-CDEA-E15E-34C2-27C65F1F8D0A}"/>
              </a:ext>
            </a:extLst>
          </p:cNvPr>
          <p:cNvSpPr/>
          <p:nvPr/>
        </p:nvSpPr>
        <p:spPr>
          <a:xfrm>
            <a:off x="6197111" y="4731572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缺页处理</a:t>
            </a:r>
            <a:endParaRPr lang="en-US" sz="16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746F86D-5729-0C89-41AD-1DF5256FC7AA}"/>
              </a:ext>
            </a:extLst>
          </p:cNvPr>
          <p:cNvSpPr/>
          <p:nvPr/>
        </p:nvSpPr>
        <p:spPr>
          <a:xfrm>
            <a:off x="5944772" y="5016681"/>
            <a:ext cx="2038063" cy="91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缺页异常检测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页面换入逻辑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页面换出逻辑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 内存统计（缺页率、访问次数）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0FB9BA7B-12F3-6341-3905-6F9F19453AF1}"/>
              </a:ext>
            </a:extLst>
          </p:cNvPr>
          <p:cNvSpPr/>
          <p:nvPr/>
        </p:nvSpPr>
        <p:spPr>
          <a:xfrm>
            <a:off x="8322831" y="2025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FF2639BA-867B-96FD-D937-A0004E880021}"/>
              </a:ext>
            </a:extLst>
          </p:cNvPr>
          <p:cNvSpPr/>
          <p:nvPr/>
        </p:nvSpPr>
        <p:spPr>
          <a:xfrm>
            <a:off x="8508010" y="2277789"/>
            <a:ext cx="3456868" cy="882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超级块（</a:t>
            </a:r>
            <a:r>
              <a:rPr lang="en-US" altLang="zh-CN" sz="1200" dirty="0" err="1">
                <a:solidFill>
                  <a:schemeClr val="bg1"/>
                </a:solidFill>
              </a:rPr>
              <a:t>SuperBlock</a:t>
            </a:r>
            <a:r>
              <a:rPr lang="zh-CN" altLang="en-US" sz="1200" dirty="0">
                <a:solidFill>
                  <a:schemeClr val="bg1"/>
                </a:solidFill>
              </a:rPr>
              <a:t>）设计</a:t>
            </a:r>
          </a:p>
          <a:p>
            <a:pPr>
              <a:lnSpc>
                <a:spcPct val="120000"/>
              </a:lnSpc>
            </a:pPr>
            <a:r>
              <a:rPr lang="en-US" altLang="zh-CN" sz="1200" dirty="0" err="1">
                <a:solidFill>
                  <a:schemeClr val="bg1"/>
                </a:solidFill>
              </a:rPr>
              <a:t>inode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数据结构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磁盘布局规划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位图管理（</a:t>
            </a:r>
            <a:r>
              <a:rPr lang="en-US" altLang="zh-CN" sz="1200" dirty="0" err="1">
                <a:solidFill>
                  <a:schemeClr val="bg1"/>
                </a:solidFill>
              </a:rPr>
              <a:t>inode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位图、数据块位图）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F28F5A34-2D70-D693-2C8A-070B502224FC}"/>
              </a:ext>
            </a:extLst>
          </p:cNvPr>
          <p:cNvSpPr/>
          <p:nvPr/>
        </p:nvSpPr>
        <p:spPr>
          <a:xfrm>
            <a:off x="8397254" y="32387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BE66B0EC-4C00-36BD-A845-9A1A6CA9FA52}"/>
              </a:ext>
            </a:extLst>
          </p:cNvPr>
          <p:cNvSpPr/>
          <p:nvPr/>
        </p:nvSpPr>
        <p:spPr>
          <a:xfrm>
            <a:off x="8665731" y="3236108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文件系统操作</a:t>
            </a:r>
            <a:endParaRPr lang="en-US" sz="1600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EEBE5649-11B0-3D03-A89D-07D4CEAC2C7F}"/>
              </a:ext>
            </a:extLst>
          </p:cNvPr>
          <p:cNvSpPr/>
          <p:nvPr/>
        </p:nvSpPr>
        <p:spPr>
          <a:xfrm>
            <a:off x="8480372" y="3564101"/>
            <a:ext cx="1809750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格式化（</a:t>
            </a:r>
            <a:r>
              <a:rPr lang="en-US" altLang="zh-CN" sz="1200" dirty="0">
                <a:solidFill>
                  <a:schemeClr val="bg1"/>
                </a:solidFill>
              </a:rPr>
              <a:t>format</a:t>
            </a:r>
            <a:r>
              <a:rPr lang="zh-CN" altLang="en-US" sz="1200" dirty="0">
                <a:solidFill>
                  <a:schemeClr val="bg1"/>
                </a:solidFill>
              </a:rPr>
              <a:t>）功能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挂载（</a:t>
            </a:r>
            <a:r>
              <a:rPr lang="en-US" altLang="zh-CN" sz="1200" dirty="0">
                <a:solidFill>
                  <a:schemeClr val="bg1"/>
                </a:solidFill>
              </a:rPr>
              <a:t>mount</a:t>
            </a:r>
            <a:r>
              <a:rPr lang="zh-CN" altLang="en-US" sz="1200" dirty="0">
                <a:solidFill>
                  <a:schemeClr val="bg1"/>
                </a:solidFill>
              </a:rPr>
              <a:t>）功能</a:t>
            </a:r>
          </a:p>
          <a:p>
            <a:pPr>
              <a:lnSpc>
                <a:spcPct val="120000"/>
              </a:lnSpc>
            </a:pPr>
            <a:r>
              <a:rPr lang="en-US" altLang="zh-CN" sz="1200" dirty="0" err="1">
                <a:solidFill>
                  <a:schemeClr val="bg1"/>
                </a:solidFill>
              </a:rPr>
              <a:t>inode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zh-CN" altLang="en-US" sz="1200" dirty="0">
                <a:solidFill>
                  <a:schemeClr val="bg1"/>
                </a:solidFill>
              </a:rPr>
              <a:t>分配和释放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数据块分配和释放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根目录初始化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E51BD71D-E266-F8DC-5011-7D5C35FC56F5}"/>
              </a:ext>
            </a:extLst>
          </p:cNvPr>
          <p:cNvSpPr/>
          <p:nvPr/>
        </p:nvSpPr>
        <p:spPr>
          <a:xfrm>
            <a:off x="8589531" y="198717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文件系统底层</a:t>
            </a:r>
            <a:endParaRPr lang="en-US" sz="160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D2F975B1-4E1A-1E1B-271C-5732FE91F498}"/>
              </a:ext>
            </a:extLst>
          </p:cNvPr>
          <p:cNvSpPr/>
          <p:nvPr/>
        </p:nvSpPr>
        <p:spPr>
          <a:xfrm>
            <a:off x="8399031" y="47885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FEDDF7DB-E54B-2EB2-DE37-249FAE4E4FB3}"/>
              </a:ext>
            </a:extLst>
          </p:cNvPr>
          <p:cNvSpPr/>
          <p:nvPr/>
        </p:nvSpPr>
        <p:spPr>
          <a:xfrm>
            <a:off x="8684781" y="475049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设备管理</a:t>
            </a:r>
            <a:endParaRPr lang="en-US" sz="1600" dirty="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4F75E720-3BBA-77C7-516B-1AD991B7DE2E}"/>
              </a:ext>
            </a:extLst>
          </p:cNvPr>
          <p:cNvSpPr/>
          <p:nvPr/>
        </p:nvSpPr>
        <p:spPr>
          <a:xfrm>
            <a:off x="8473454" y="4960172"/>
            <a:ext cx="2721768" cy="975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磁盘设备模拟（</a:t>
            </a:r>
            <a:r>
              <a:rPr lang="en-US" altLang="zh-CN" sz="1200" dirty="0" err="1">
                <a:solidFill>
                  <a:schemeClr val="bg1"/>
                </a:solidFill>
              </a:rPr>
              <a:t>DiskDevice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块读写操作（</a:t>
            </a:r>
            <a:r>
              <a:rPr lang="en-US" altLang="zh-CN" sz="1200" dirty="0" err="1">
                <a:solidFill>
                  <a:schemeClr val="bg1"/>
                </a:solidFill>
              </a:rPr>
              <a:t>read_block</a:t>
            </a:r>
            <a:r>
              <a:rPr lang="en-US" altLang="zh-CN" sz="1200" dirty="0">
                <a:solidFill>
                  <a:schemeClr val="bg1"/>
                </a:solidFill>
              </a:rPr>
              <a:t>/</a:t>
            </a:r>
            <a:r>
              <a:rPr lang="en-US" altLang="zh-CN" sz="1200" dirty="0" err="1">
                <a:solidFill>
                  <a:schemeClr val="bg1"/>
                </a:solidFill>
              </a:rPr>
              <a:t>write_block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磁盘文件初始化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磁盘 </a:t>
            </a:r>
            <a:r>
              <a:rPr lang="en-US" altLang="zh-CN" sz="1200" dirty="0">
                <a:solidFill>
                  <a:schemeClr val="bg1"/>
                </a:solidFill>
              </a:rPr>
              <a:t>I/O </a:t>
            </a:r>
            <a:r>
              <a:rPr lang="zh-CN" altLang="en-US" sz="1200" dirty="0">
                <a:solidFill>
                  <a:schemeClr val="bg1"/>
                </a:solidFill>
              </a:rPr>
              <a:t>错误处理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45B96467-2158-3BC9-AA6E-C7591DFBCC47}"/>
              </a:ext>
            </a:extLst>
          </p:cNvPr>
          <p:cNvSpPr/>
          <p:nvPr/>
        </p:nvSpPr>
        <p:spPr>
          <a:xfrm>
            <a:off x="1996616" y="47872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2E23C1D0-669F-23B4-E271-B0C5DBA2C811}"/>
              </a:ext>
            </a:extLst>
          </p:cNvPr>
          <p:cNvSpPr/>
          <p:nvPr/>
        </p:nvSpPr>
        <p:spPr>
          <a:xfrm>
            <a:off x="2280110" y="474184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Shell </a:t>
            </a:r>
            <a:r>
              <a:rPr lang="zh-CN" alt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</a:rPr>
              <a:t>界面</a:t>
            </a:r>
            <a:endParaRPr lang="en-US" sz="16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8038E76E-FF87-6317-97EF-3E6DC9E6AE5F}"/>
              </a:ext>
            </a:extLst>
          </p:cNvPr>
          <p:cNvSpPr/>
          <p:nvPr/>
        </p:nvSpPr>
        <p:spPr>
          <a:xfrm>
            <a:off x="2026617" y="5026949"/>
            <a:ext cx="2038063" cy="91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命令解析器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bg1"/>
                </a:solidFill>
              </a:rPr>
              <a:t>15+ </a:t>
            </a:r>
            <a:r>
              <a:rPr lang="zh-CN" altLang="en-US" sz="1200" dirty="0">
                <a:solidFill>
                  <a:schemeClr val="bg1"/>
                </a:solidFill>
              </a:rPr>
              <a:t>条命令实现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脚本执行功能（</a:t>
            </a:r>
            <a:r>
              <a:rPr lang="en-US" altLang="zh-CN" sz="1200" dirty="0">
                <a:solidFill>
                  <a:schemeClr val="bg1"/>
                </a:solidFill>
              </a:rPr>
              <a:t>.</a:t>
            </a:r>
            <a:r>
              <a:rPr lang="en-US" altLang="zh-CN" sz="1200" dirty="0" err="1">
                <a:solidFill>
                  <a:schemeClr val="bg1"/>
                </a:solidFill>
              </a:rPr>
              <a:t>tsh</a:t>
            </a:r>
            <a:r>
              <a:rPr lang="zh-CN" altLang="en-US" sz="1200" dirty="0">
                <a:solidFill>
                  <a:schemeClr val="bg1"/>
                </a:solidFill>
              </a:rPr>
              <a:t>）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</a:rPr>
              <a:t>帮助系统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9805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fd5309c0f618e3ca141553e3ecd481bfdfb8e3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8812" b="28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388620" y="224599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374333" y="0"/>
                </a:moveTo>
                <a:lnTo>
                  <a:pt x="374333" y="0"/>
                </a:lnTo>
                <a:cubicBezTo>
                  <a:pt x="581071" y="0"/>
                  <a:pt x="748665" y="167594"/>
                  <a:pt x="748665" y="374333"/>
                </a:cubicBezTo>
                <a:lnTo>
                  <a:pt x="748665" y="374333"/>
                </a:lnTo>
                <a:cubicBezTo>
                  <a:pt x="748665" y="581071"/>
                  <a:pt x="581071" y="748665"/>
                  <a:pt x="374333" y="748665"/>
                </a:cubicBezTo>
                <a:lnTo>
                  <a:pt x="374333" y="748665"/>
                </a:lnTo>
                <a:cubicBezTo>
                  <a:pt x="167594" y="748665"/>
                  <a:pt x="0" y="581071"/>
                  <a:pt x="0" y="374333"/>
                </a:cubicBezTo>
                <a:lnTo>
                  <a:pt x="0" y="374333"/>
                </a:lnTo>
                <a:cubicBezTo>
                  <a:pt x="0" y="167594"/>
                  <a:pt x="167594" y="0"/>
                  <a:pt x="37433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A9B4C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5071" y="2428875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2614613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B4C2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3228975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开发工具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148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技术栈与开发环境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技术栈与开发环境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3674745" cy="2484120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7912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0564" y="1588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" name="Text 5"/>
          <p:cNvSpPr/>
          <p:nvPr/>
        </p:nvSpPr>
        <p:spPr>
          <a:xfrm>
            <a:off x="1150620" y="155067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编程语言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170" y="21031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9" name="Text 7"/>
          <p:cNvSpPr/>
          <p:nvPr/>
        </p:nvSpPr>
        <p:spPr>
          <a:xfrm>
            <a:off x="883920" y="206502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C++17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3920" y="2293620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面向对象设计，现代 C++ 特性支持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170" y="2636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" y="259842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智能指针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3920" y="282702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std::shared_ptr 自动内存管理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170" y="3169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3"/>
          <p:cNvSpPr/>
          <p:nvPr/>
        </p:nvSpPr>
        <p:spPr>
          <a:xfrm>
            <a:off x="883920" y="3131823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标准库容器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3920" y="3360423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vector, map, queue 等数据结构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261110"/>
            <a:ext cx="3674745" cy="2484120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5258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85930" y="15887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4081" y="155067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开发环境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1630" y="21031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7380" y="206502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7380" y="229362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 10/11 或 Linux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71630" y="2636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7380" y="2598423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编译器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7380" y="2827023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MSVC / GCC 7.0+ / Clang 6.0+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71630" y="3169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7380" y="3131823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构建工具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7380" y="3360423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CMake 3.10+ 跨平台构建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1731" y="1261110"/>
            <a:ext cx="3674745" cy="2484120"/>
          </a:xfrm>
          <a:custGeom>
            <a:avLst/>
            <a:gdLst/>
            <a:ahLst/>
            <a:cxnLst/>
            <a:rect l="l" t="t" r="r" b="b"/>
            <a:pathLst>
              <a:path w="3674745" h="2484120">
                <a:moveTo>
                  <a:pt x="76188" y="0"/>
                </a:moveTo>
                <a:lnTo>
                  <a:pt x="3598557" y="0"/>
                </a:lnTo>
                <a:cubicBezTo>
                  <a:pt x="3640634" y="0"/>
                  <a:pt x="3674745" y="34111"/>
                  <a:pt x="3674745" y="76188"/>
                </a:cubicBezTo>
                <a:lnTo>
                  <a:pt x="3674745" y="2407932"/>
                </a:lnTo>
                <a:cubicBezTo>
                  <a:pt x="3674745" y="2450009"/>
                  <a:pt x="3640634" y="2484120"/>
                  <a:pt x="3598557" y="2484120"/>
                </a:cubicBezTo>
                <a:lnTo>
                  <a:pt x="76188" y="2484120"/>
                </a:lnTo>
                <a:cubicBezTo>
                  <a:pt x="34111" y="2484120"/>
                  <a:pt x="0" y="2450009"/>
                  <a:pt x="0" y="240793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26041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47484" y="1588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8897541" y="155067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开发工具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45091" y="21031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5" name="Text 33"/>
          <p:cNvSpPr/>
          <p:nvPr/>
        </p:nvSpPr>
        <p:spPr>
          <a:xfrm>
            <a:off x="8630841" y="206502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0841" y="229362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Code / Visual Studio / CLion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45091" y="2636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8" name="Text 36"/>
          <p:cNvSpPr/>
          <p:nvPr/>
        </p:nvSpPr>
        <p:spPr>
          <a:xfrm>
            <a:off x="8630841" y="2598423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0841" y="2827023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 代码管理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45091" y="31699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1" name="Text 39"/>
          <p:cNvSpPr/>
          <p:nvPr/>
        </p:nvSpPr>
        <p:spPr>
          <a:xfrm>
            <a:off x="8630841" y="3131823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调试工具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0841" y="3360423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GDB / LLDB / VS Debugger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810" y="3943351"/>
            <a:ext cx="11418570" cy="1703070"/>
          </a:xfrm>
          <a:custGeom>
            <a:avLst/>
            <a:gdLst/>
            <a:ahLst/>
            <a:cxnLst/>
            <a:rect l="l" t="t" r="r" b="b"/>
            <a:pathLst>
              <a:path w="11418570" h="1703070">
                <a:moveTo>
                  <a:pt x="76195" y="0"/>
                </a:moveTo>
                <a:lnTo>
                  <a:pt x="11342375" y="0"/>
                </a:lnTo>
                <a:cubicBezTo>
                  <a:pt x="11384456" y="0"/>
                  <a:pt x="11418570" y="34114"/>
                  <a:pt x="11418570" y="76195"/>
                </a:cubicBezTo>
                <a:lnTo>
                  <a:pt x="11418570" y="1626875"/>
                </a:lnTo>
                <a:cubicBezTo>
                  <a:pt x="11418570" y="1668928"/>
                  <a:pt x="11384428" y="1703070"/>
                  <a:pt x="11342375" y="1703070"/>
                </a:cubicBezTo>
                <a:lnTo>
                  <a:pt x="76195" y="1703070"/>
                </a:lnTo>
                <a:cubicBezTo>
                  <a:pt x="34114" y="1703070"/>
                  <a:pt x="0" y="1668956"/>
                  <a:pt x="0" y="162687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9120" y="41376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2470" y="42710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6" name="Text 44"/>
          <p:cNvSpPr/>
          <p:nvPr/>
        </p:nvSpPr>
        <p:spPr>
          <a:xfrm>
            <a:off x="1150620" y="4232909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核心库依赖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82930" y="4751069"/>
            <a:ext cx="2636520" cy="693420"/>
          </a:xfrm>
          <a:custGeom>
            <a:avLst/>
            <a:gdLst/>
            <a:ahLst/>
            <a:cxnLst/>
            <a:rect l="l" t="t" r="r" b="b"/>
            <a:pathLst>
              <a:path w="2636520" h="693420">
                <a:moveTo>
                  <a:pt x="76200" y="0"/>
                </a:moveTo>
                <a:lnTo>
                  <a:pt x="2560320" y="0"/>
                </a:lnTo>
                <a:cubicBezTo>
                  <a:pt x="2602404" y="0"/>
                  <a:pt x="2636520" y="34116"/>
                  <a:pt x="2636520" y="76200"/>
                </a:cubicBezTo>
                <a:lnTo>
                  <a:pt x="2636520" y="617220"/>
                </a:lnTo>
                <a:cubicBezTo>
                  <a:pt x="2636520" y="659304"/>
                  <a:pt x="2602404" y="693420"/>
                  <a:pt x="256032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8" name="Text 46"/>
          <p:cNvSpPr/>
          <p:nvPr/>
        </p:nvSpPr>
        <p:spPr>
          <a:xfrm>
            <a:off x="701040" y="486918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数据结构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1040" y="509778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,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379470" y="4751069"/>
            <a:ext cx="2636520" cy="693420"/>
          </a:xfrm>
          <a:custGeom>
            <a:avLst/>
            <a:gdLst/>
            <a:ahLst/>
            <a:cxnLst/>
            <a:rect l="l" t="t" r="r" b="b"/>
            <a:pathLst>
              <a:path w="2636520" h="693420">
                <a:moveTo>
                  <a:pt x="76200" y="0"/>
                </a:moveTo>
                <a:lnTo>
                  <a:pt x="2560320" y="0"/>
                </a:lnTo>
                <a:cubicBezTo>
                  <a:pt x="2602404" y="0"/>
                  <a:pt x="2636520" y="34116"/>
                  <a:pt x="2636520" y="76200"/>
                </a:cubicBezTo>
                <a:lnTo>
                  <a:pt x="2636520" y="617220"/>
                </a:lnTo>
                <a:cubicBezTo>
                  <a:pt x="2636520" y="659304"/>
                  <a:pt x="2602404" y="693420"/>
                  <a:pt x="256032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3497580" y="486918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 I/O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497580" y="509778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6010" y="4751069"/>
            <a:ext cx="2636520" cy="693420"/>
          </a:xfrm>
          <a:custGeom>
            <a:avLst/>
            <a:gdLst/>
            <a:ahLst/>
            <a:cxnLst/>
            <a:rect l="l" t="t" r="r" b="b"/>
            <a:pathLst>
              <a:path w="2636520" h="693420">
                <a:moveTo>
                  <a:pt x="76200" y="0"/>
                </a:moveTo>
                <a:lnTo>
                  <a:pt x="2560320" y="0"/>
                </a:lnTo>
                <a:cubicBezTo>
                  <a:pt x="2602404" y="0"/>
                  <a:pt x="2636520" y="34116"/>
                  <a:pt x="2636520" y="76200"/>
                </a:cubicBezTo>
                <a:lnTo>
                  <a:pt x="2636520" y="617220"/>
                </a:lnTo>
                <a:cubicBezTo>
                  <a:pt x="2636520" y="659304"/>
                  <a:pt x="2602404" y="693420"/>
                  <a:pt x="256032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294120" y="486918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94120" y="509778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72550" y="4751069"/>
            <a:ext cx="2636520" cy="693420"/>
          </a:xfrm>
          <a:custGeom>
            <a:avLst/>
            <a:gdLst/>
            <a:ahLst/>
            <a:cxnLst/>
            <a:rect l="l" t="t" r="r" b="b"/>
            <a:pathLst>
              <a:path w="2636520" h="693420">
                <a:moveTo>
                  <a:pt x="76200" y="0"/>
                </a:moveTo>
                <a:lnTo>
                  <a:pt x="2560320" y="0"/>
                </a:lnTo>
                <a:cubicBezTo>
                  <a:pt x="2602404" y="0"/>
                  <a:pt x="2636520" y="34116"/>
                  <a:pt x="2636520" y="76200"/>
                </a:cubicBezTo>
                <a:lnTo>
                  <a:pt x="2636520" y="617220"/>
                </a:lnTo>
                <a:cubicBezTo>
                  <a:pt x="2636520" y="659304"/>
                  <a:pt x="2602404" y="693420"/>
                  <a:pt x="256032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090660" y="486918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输入输出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90660" y="509778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0050" y="5798823"/>
            <a:ext cx="11410950" cy="762000"/>
          </a:xfrm>
          <a:custGeom>
            <a:avLst/>
            <a:gdLst/>
            <a:ahLst/>
            <a:cxnLst/>
            <a:rect l="l" t="t" r="r" b="b"/>
            <a:pathLst>
              <a:path w="11410950" h="76200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685800"/>
                </a:lnTo>
                <a:cubicBezTo>
                  <a:pt x="11410950" y="727856"/>
                  <a:pt x="11376806" y="762000"/>
                  <a:pt x="1133475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400050" y="579882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1" name="Shape 59"/>
          <p:cNvSpPr/>
          <p:nvPr/>
        </p:nvSpPr>
        <p:spPr>
          <a:xfrm>
            <a:off x="590550" y="609409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2" name="Text 60"/>
          <p:cNvSpPr/>
          <p:nvPr/>
        </p:nvSpPr>
        <p:spPr>
          <a:xfrm>
            <a:off x="899398" y="5951223"/>
            <a:ext cx="10839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技术选型理由：</a:t>
            </a: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 C++17 标准确保代码的现代性和可维护性，CMake 构建系统实现跨平台支持，智能指针避免内存泄漏，标准库容器保证数据结构的可靠性。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c1047c449f8e09f89a90632d8dc1af8973c4526b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8889" r="88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224599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374333" y="0"/>
                </a:moveTo>
                <a:lnTo>
                  <a:pt x="374333" y="0"/>
                </a:lnTo>
                <a:cubicBezTo>
                  <a:pt x="581071" y="0"/>
                  <a:pt x="748665" y="167594"/>
                  <a:pt x="748665" y="374333"/>
                </a:cubicBezTo>
                <a:lnTo>
                  <a:pt x="748665" y="374333"/>
                </a:lnTo>
                <a:cubicBezTo>
                  <a:pt x="748665" y="581071"/>
                  <a:pt x="581071" y="748665"/>
                  <a:pt x="374333" y="748665"/>
                </a:cubicBezTo>
                <a:lnTo>
                  <a:pt x="374333" y="748665"/>
                </a:lnTo>
                <a:cubicBezTo>
                  <a:pt x="167594" y="748665"/>
                  <a:pt x="0" y="581071"/>
                  <a:pt x="0" y="374333"/>
                </a:cubicBezTo>
                <a:lnTo>
                  <a:pt x="0" y="374333"/>
                </a:lnTo>
                <a:cubicBezTo>
                  <a:pt x="0" y="167594"/>
                  <a:pt x="167594" y="0"/>
                  <a:pt x="37433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A9B4C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9951" y="2428875"/>
            <a:ext cx="57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2614613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B4C2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3228975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设计思路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148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系统架构与核心算法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kern="0" spc="114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857" y="653143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总体架构设计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6486" y="1201057"/>
            <a:ext cx="6302829" cy="5649686"/>
          </a:xfrm>
          <a:custGeom>
            <a:avLst/>
            <a:gdLst/>
            <a:ahLst/>
            <a:cxnLst/>
            <a:rect l="l" t="t" r="r" b="b"/>
            <a:pathLst>
              <a:path w="6302829" h="5649686">
                <a:moveTo>
                  <a:pt x="72598" y="0"/>
                </a:moveTo>
                <a:lnTo>
                  <a:pt x="6230230" y="0"/>
                </a:lnTo>
                <a:cubicBezTo>
                  <a:pt x="6270325" y="0"/>
                  <a:pt x="6302829" y="32503"/>
                  <a:pt x="6302829" y="72598"/>
                </a:cubicBezTo>
                <a:lnTo>
                  <a:pt x="6302829" y="5577087"/>
                </a:lnTo>
                <a:cubicBezTo>
                  <a:pt x="6302829" y="5617182"/>
                  <a:pt x="6270325" y="5649686"/>
                  <a:pt x="6230230" y="5649686"/>
                </a:cubicBezTo>
                <a:lnTo>
                  <a:pt x="72598" y="5649686"/>
                </a:lnTo>
                <a:cubicBezTo>
                  <a:pt x="32503" y="5649686"/>
                  <a:pt x="0" y="5617182"/>
                  <a:pt x="0" y="5577087"/>
                </a:cubicBezTo>
                <a:lnTo>
                  <a:pt x="0" y="72598"/>
                </a:lnTo>
                <a:cubicBezTo>
                  <a:pt x="0" y="32503"/>
                  <a:pt x="32503" y="0"/>
                  <a:pt x="725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2471" y="1422403"/>
            <a:ext cx="59508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2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分层模块化架构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1457" y="1861460"/>
            <a:ext cx="5849257" cy="841829"/>
          </a:xfrm>
          <a:custGeom>
            <a:avLst/>
            <a:gdLst/>
            <a:ahLst/>
            <a:cxnLst/>
            <a:rect l="l" t="t" r="r" b="b"/>
            <a:pathLst>
              <a:path w="5849257" h="841829">
                <a:moveTo>
                  <a:pt x="72574" y="0"/>
                </a:moveTo>
                <a:lnTo>
                  <a:pt x="5776683" y="0"/>
                </a:lnTo>
                <a:cubicBezTo>
                  <a:pt x="5816765" y="0"/>
                  <a:pt x="5849257" y="32493"/>
                  <a:pt x="5849257" y="72574"/>
                </a:cubicBezTo>
                <a:lnTo>
                  <a:pt x="5849257" y="769255"/>
                </a:lnTo>
                <a:cubicBezTo>
                  <a:pt x="5849257" y="809336"/>
                  <a:pt x="5816765" y="841829"/>
                  <a:pt x="5776683" y="841829"/>
                </a:cubicBezTo>
                <a:lnTo>
                  <a:pt x="72574" y="841829"/>
                </a:lnTo>
                <a:cubicBezTo>
                  <a:pt x="32519" y="841829"/>
                  <a:pt x="0" y="809309"/>
                  <a:pt x="0" y="769255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0160">
            <a:solidFill>
              <a:srgbClr val="A9B4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0229" y="2010229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A9B4C2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8479" y="2010229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9371" y="2028372"/>
            <a:ext cx="12972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用户交互层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229" y="2373087"/>
            <a:ext cx="5615214" cy="181429"/>
          </a:xfrm>
          <a:prstGeom prst="rect">
            <a:avLst/>
          </a:prstGeom>
          <a:noFill/>
          <a:ln/>
        </p:spPr>
        <p:txBody>
          <a:bodyPr wrap="square" lIns="39914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命令解析、交互式界面、脚本执行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48050" y="2815771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A9B4C2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1457" y="3109685"/>
            <a:ext cx="5849257" cy="1023257"/>
          </a:xfrm>
          <a:custGeom>
            <a:avLst/>
            <a:gdLst/>
            <a:ahLst/>
            <a:cxnLst/>
            <a:rect l="l" t="t" r="r" b="b"/>
            <a:pathLst>
              <a:path w="5849257" h="1023257">
                <a:moveTo>
                  <a:pt x="72569" y="0"/>
                </a:moveTo>
                <a:lnTo>
                  <a:pt x="5776688" y="0"/>
                </a:lnTo>
                <a:cubicBezTo>
                  <a:pt x="5816767" y="0"/>
                  <a:pt x="5849257" y="32490"/>
                  <a:pt x="5849257" y="72569"/>
                </a:cubicBezTo>
                <a:lnTo>
                  <a:pt x="5849257" y="950688"/>
                </a:lnTo>
                <a:cubicBezTo>
                  <a:pt x="5849257" y="990767"/>
                  <a:pt x="5816767" y="1023257"/>
                  <a:pt x="5776688" y="1023257"/>
                </a:cubicBezTo>
                <a:lnTo>
                  <a:pt x="72569" y="1023257"/>
                </a:lnTo>
                <a:cubicBezTo>
                  <a:pt x="32517" y="1023257"/>
                  <a:pt x="0" y="990740"/>
                  <a:pt x="0" y="950688"/>
                </a:cubicBezTo>
                <a:lnTo>
                  <a:pt x="0" y="72569"/>
                </a:lnTo>
                <a:cubicBezTo>
                  <a:pt x="0" y="32490"/>
                  <a:pt x="32490" y="0"/>
                  <a:pt x="72569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0160">
            <a:solidFill>
              <a:srgbClr val="A9B4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40229" y="3258459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A9B4C2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8479" y="3258459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9371" y="3276602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Kernel 内核层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39371" y="3657602"/>
            <a:ext cx="1669143" cy="326571"/>
          </a:xfrm>
          <a:custGeom>
            <a:avLst/>
            <a:gdLst/>
            <a:ahLst/>
            <a:cxnLst/>
            <a:rect l="l" t="t" r="r" b="b"/>
            <a:pathLst>
              <a:path w="1669143" h="326571">
                <a:moveTo>
                  <a:pt x="36285" y="0"/>
                </a:moveTo>
                <a:lnTo>
                  <a:pt x="1632858" y="0"/>
                </a:lnTo>
                <a:cubicBezTo>
                  <a:pt x="1652897" y="0"/>
                  <a:pt x="1669143" y="16246"/>
                  <a:pt x="1669143" y="36285"/>
                </a:cubicBezTo>
                <a:lnTo>
                  <a:pt x="1669143" y="290286"/>
                </a:lnTo>
                <a:cubicBezTo>
                  <a:pt x="1669143" y="310326"/>
                  <a:pt x="1652897" y="326571"/>
                  <a:pt x="1632858" y="326571"/>
                </a:cubicBezTo>
                <a:lnTo>
                  <a:pt x="36285" y="326571"/>
                </a:lnTo>
                <a:cubicBezTo>
                  <a:pt x="16259" y="326571"/>
                  <a:pt x="0" y="310313"/>
                  <a:pt x="0" y="290286"/>
                </a:cubicBezTo>
                <a:lnTo>
                  <a:pt x="0" y="36285"/>
                </a:lnTo>
                <a:cubicBezTo>
                  <a:pt x="0" y="16259"/>
                  <a:pt x="16259" y="0"/>
                  <a:pt x="362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80193" y="3730173"/>
            <a:ext cx="1587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81086" y="3657602"/>
            <a:ext cx="1669143" cy="326571"/>
          </a:xfrm>
          <a:custGeom>
            <a:avLst/>
            <a:gdLst/>
            <a:ahLst/>
            <a:cxnLst/>
            <a:rect l="l" t="t" r="r" b="b"/>
            <a:pathLst>
              <a:path w="1669143" h="326571">
                <a:moveTo>
                  <a:pt x="36285" y="0"/>
                </a:moveTo>
                <a:lnTo>
                  <a:pt x="1632858" y="0"/>
                </a:lnTo>
                <a:cubicBezTo>
                  <a:pt x="1652897" y="0"/>
                  <a:pt x="1669143" y="16246"/>
                  <a:pt x="1669143" y="36285"/>
                </a:cubicBezTo>
                <a:lnTo>
                  <a:pt x="1669143" y="290286"/>
                </a:lnTo>
                <a:cubicBezTo>
                  <a:pt x="1669143" y="310326"/>
                  <a:pt x="1652897" y="326571"/>
                  <a:pt x="1632858" y="326571"/>
                </a:cubicBezTo>
                <a:lnTo>
                  <a:pt x="36285" y="326571"/>
                </a:lnTo>
                <a:cubicBezTo>
                  <a:pt x="16259" y="326571"/>
                  <a:pt x="0" y="310313"/>
                  <a:pt x="0" y="290286"/>
                </a:cubicBezTo>
                <a:lnTo>
                  <a:pt x="0" y="36285"/>
                </a:lnTo>
                <a:cubicBezTo>
                  <a:pt x="0" y="16259"/>
                  <a:pt x="16259" y="0"/>
                  <a:pt x="362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921907" y="3730173"/>
            <a:ext cx="1587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22800" y="3657602"/>
            <a:ext cx="1669143" cy="326571"/>
          </a:xfrm>
          <a:custGeom>
            <a:avLst/>
            <a:gdLst/>
            <a:ahLst/>
            <a:cxnLst/>
            <a:rect l="l" t="t" r="r" b="b"/>
            <a:pathLst>
              <a:path w="1669143" h="326571">
                <a:moveTo>
                  <a:pt x="36285" y="0"/>
                </a:moveTo>
                <a:lnTo>
                  <a:pt x="1632858" y="0"/>
                </a:lnTo>
                <a:cubicBezTo>
                  <a:pt x="1652897" y="0"/>
                  <a:pt x="1669143" y="16246"/>
                  <a:pt x="1669143" y="36285"/>
                </a:cubicBezTo>
                <a:lnTo>
                  <a:pt x="1669143" y="290286"/>
                </a:lnTo>
                <a:cubicBezTo>
                  <a:pt x="1669143" y="310326"/>
                  <a:pt x="1652897" y="326571"/>
                  <a:pt x="1632858" y="326571"/>
                </a:cubicBezTo>
                <a:lnTo>
                  <a:pt x="36285" y="326571"/>
                </a:lnTo>
                <a:cubicBezTo>
                  <a:pt x="16259" y="326571"/>
                  <a:pt x="0" y="310313"/>
                  <a:pt x="0" y="290286"/>
                </a:cubicBezTo>
                <a:lnTo>
                  <a:pt x="0" y="36285"/>
                </a:lnTo>
                <a:cubicBezTo>
                  <a:pt x="0" y="16259"/>
                  <a:pt x="16259" y="0"/>
                  <a:pt x="3628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663622" y="3730173"/>
            <a:ext cx="1587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48050" y="4245429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A9B4C2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1457" y="4539343"/>
            <a:ext cx="5849257" cy="841829"/>
          </a:xfrm>
          <a:custGeom>
            <a:avLst/>
            <a:gdLst/>
            <a:ahLst/>
            <a:cxnLst/>
            <a:rect l="l" t="t" r="r" b="b"/>
            <a:pathLst>
              <a:path w="5849257" h="841829">
                <a:moveTo>
                  <a:pt x="72574" y="0"/>
                </a:moveTo>
                <a:lnTo>
                  <a:pt x="5776683" y="0"/>
                </a:lnTo>
                <a:cubicBezTo>
                  <a:pt x="5816765" y="0"/>
                  <a:pt x="5849257" y="32493"/>
                  <a:pt x="5849257" y="72574"/>
                </a:cubicBezTo>
                <a:lnTo>
                  <a:pt x="5849257" y="769255"/>
                </a:lnTo>
                <a:cubicBezTo>
                  <a:pt x="5849257" y="809336"/>
                  <a:pt x="5816765" y="841829"/>
                  <a:pt x="5776683" y="841829"/>
                </a:cubicBezTo>
                <a:lnTo>
                  <a:pt x="72574" y="841829"/>
                </a:lnTo>
                <a:cubicBezTo>
                  <a:pt x="32519" y="841829"/>
                  <a:pt x="0" y="809309"/>
                  <a:pt x="0" y="769255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0160">
            <a:solidFill>
              <a:srgbClr val="A9B4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40229" y="4688117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A9B4C2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8479" y="4688117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9371" y="4706260"/>
            <a:ext cx="898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设备驱动层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229" y="5050974"/>
            <a:ext cx="5615214" cy="181429"/>
          </a:xfrm>
          <a:prstGeom prst="rect">
            <a:avLst/>
          </a:prstGeom>
          <a:noFill/>
          <a:ln/>
        </p:spPr>
        <p:txBody>
          <a:bodyPr wrap="square" lIns="39914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DiskDevice 磁盘设备抽象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48050" y="5493658"/>
            <a:ext cx="136071" cy="181429"/>
          </a:xfrm>
          <a:custGeom>
            <a:avLst/>
            <a:gdLst/>
            <a:ahLst/>
            <a:cxnLst/>
            <a:rect l="l" t="t" r="r" b="b"/>
            <a:pathLst>
              <a:path w="136071" h="181429">
                <a:moveTo>
                  <a:pt x="60027" y="178098"/>
                </a:moveTo>
                <a:cubicBezTo>
                  <a:pt x="64457" y="182527"/>
                  <a:pt x="71650" y="182527"/>
                  <a:pt x="76080" y="178098"/>
                </a:cubicBezTo>
                <a:lnTo>
                  <a:pt x="132776" y="121401"/>
                </a:lnTo>
                <a:cubicBezTo>
                  <a:pt x="137205" y="116972"/>
                  <a:pt x="137205" y="109778"/>
                  <a:pt x="132776" y="105349"/>
                </a:cubicBezTo>
                <a:cubicBezTo>
                  <a:pt x="128347" y="100920"/>
                  <a:pt x="121153" y="100920"/>
                  <a:pt x="116724" y="105349"/>
                </a:cubicBezTo>
                <a:lnTo>
                  <a:pt x="79375" y="142698"/>
                </a:lnTo>
                <a:lnTo>
                  <a:pt x="79375" y="11339"/>
                </a:lnTo>
                <a:cubicBezTo>
                  <a:pt x="79375" y="5067"/>
                  <a:pt x="74308" y="0"/>
                  <a:pt x="68036" y="0"/>
                </a:cubicBezTo>
                <a:cubicBezTo>
                  <a:pt x="61764" y="0"/>
                  <a:pt x="56696" y="5067"/>
                  <a:pt x="56696" y="11339"/>
                </a:cubicBezTo>
                <a:lnTo>
                  <a:pt x="56696" y="142698"/>
                </a:lnTo>
                <a:lnTo>
                  <a:pt x="19348" y="105349"/>
                </a:lnTo>
                <a:cubicBezTo>
                  <a:pt x="14918" y="100920"/>
                  <a:pt x="7725" y="100920"/>
                  <a:pt x="3295" y="105349"/>
                </a:cubicBezTo>
                <a:cubicBezTo>
                  <a:pt x="-1134" y="109778"/>
                  <a:pt x="-1134" y="116972"/>
                  <a:pt x="3295" y="121401"/>
                </a:cubicBezTo>
                <a:lnTo>
                  <a:pt x="59992" y="178098"/>
                </a:lnTo>
                <a:close/>
              </a:path>
            </a:pathLst>
          </a:custGeom>
          <a:solidFill>
            <a:srgbClr val="A9B4C2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91457" y="5787572"/>
            <a:ext cx="5849257" cy="841829"/>
          </a:xfrm>
          <a:custGeom>
            <a:avLst/>
            <a:gdLst/>
            <a:ahLst/>
            <a:cxnLst/>
            <a:rect l="l" t="t" r="r" b="b"/>
            <a:pathLst>
              <a:path w="5849257" h="841829">
                <a:moveTo>
                  <a:pt x="72574" y="0"/>
                </a:moveTo>
                <a:lnTo>
                  <a:pt x="5776683" y="0"/>
                </a:lnTo>
                <a:cubicBezTo>
                  <a:pt x="5816765" y="0"/>
                  <a:pt x="5849257" y="32493"/>
                  <a:pt x="5849257" y="72574"/>
                </a:cubicBezTo>
                <a:lnTo>
                  <a:pt x="5849257" y="769255"/>
                </a:lnTo>
                <a:cubicBezTo>
                  <a:pt x="5849257" y="809336"/>
                  <a:pt x="5816765" y="841829"/>
                  <a:pt x="5776683" y="841829"/>
                </a:cubicBezTo>
                <a:lnTo>
                  <a:pt x="72574" y="841829"/>
                </a:lnTo>
                <a:cubicBezTo>
                  <a:pt x="32519" y="841829"/>
                  <a:pt x="0" y="809309"/>
                  <a:pt x="0" y="769255"/>
                </a:cubicBezTo>
                <a:lnTo>
                  <a:pt x="0" y="72574"/>
                </a:lnTo>
                <a:cubicBezTo>
                  <a:pt x="0" y="32519"/>
                  <a:pt x="32519" y="0"/>
                  <a:pt x="72574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10160">
            <a:solidFill>
              <a:srgbClr val="A9B4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40229" y="5936342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A9B4C2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08479" y="5936342"/>
            <a:ext cx="353786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9371" y="5954485"/>
            <a:ext cx="89807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模拟硬件层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0229" y="6299199"/>
            <a:ext cx="5615214" cy="181429"/>
          </a:xfrm>
          <a:prstGeom prst="rect">
            <a:avLst/>
          </a:prstGeom>
          <a:noFill/>
          <a:ln/>
        </p:spPr>
        <p:txBody>
          <a:bodyPr wrap="square" lIns="399143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disk.img 磁盘镜像文件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90657" y="1201057"/>
            <a:ext cx="4933043" cy="2365829"/>
          </a:xfrm>
          <a:custGeom>
            <a:avLst/>
            <a:gdLst/>
            <a:ahLst/>
            <a:cxnLst/>
            <a:rect l="l" t="t" r="r" b="b"/>
            <a:pathLst>
              <a:path w="4933043" h="2365829">
                <a:moveTo>
                  <a:pt x="72560" y="0"/>
                </a:moveTo>
                <a:lnTo>
                  <a:pt x="4860483" y="0"/>
                </a:lnTo>
                <a:cubicBezTo>
                  <a:pt x="4900557" y="0"/>
                  <a:pt x="4933043" y="32486"/>
                  <a:pt x="4933043" y="72560"/>
                </a:cubicBezTo>
                <a:lnTo>
                  <a:pt x="4933043" y="2293269"/>
                </a:lnTo>
                <a:cubicBezTo>
                  <a:pt x="4933043" y="2333342"/>
                  <a:pt x="4900557" y="2365829"/>
                  <a:pt x="4860483" y="2365829"/>
                </a:cubicBezTo>
                <a:lnTo>
                  <a:pt x="72560" y="2365829"/>
                </a:lnTo>
                <a:cubicBezTo>
                  <a:pt x="32486" y="2365829"/>
                  <a:pt x="0" y="2333342"/>
                  <a:pt x="0" y="2293269"/>
                </a:cubicBezTo>
                <a:lnTo>
                  <a:pt x="0" y="72560"/>
                </a:lnTo>
                <a:cubicBezTo>
                  <a:pt x="0" y="32513"/>
                  <a:pt x="32513" y="0"/>
                  <a:pt x="7256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98393" y="1422403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68036" y="22679"/>
                </a:moveTo>
                <a:cubicBezTo>
                  <a:pt x="68036" y="16407"/>
                  <a:pt x="73103" y="11339"/>
                  <a:pt x="79375" y="11339"/>
                </a:cubicBezTo>
                <a:lnTo>
                  <a:pt x="102054" y="11339"/>
                </a:lnTo>
                <a:cubicBezTo>
                  <a:pt x="108326" y="11339"/>
                  <a:pt x="113393" y="16407"/>
                  <a:pt x="113393" y="22679"/>
                </a:cubicBezTo>
                <a:lnTo>
                  <a:pt x="113393" y="45357"/>
                </a:lnTo>
                <a:cubicBezTo>
                  <a:pt x="113393" y="51629"/>
                  <a:pt x="108326" y="56696"/>
                  <a:pt x="102054" y="56696"/>
                </a:cubicBezTo>
                <a:lnTo>
                  <a:pt x="99219" y="56696"/>
                </a:lnTo>
                <a:lnTo>
                  <a:pt x="99219" y="79375"/>
                </a:lnTo>
                <a:lnTo>
                  <a:pt x="141741" y="79375"/>
                </a:lnTo>
                <a:cubicBezTo>
                  <a:pt x="155844" y="79375"/>
                  <a:pt x="167254" y="90785"/>
                  <a:pt x="167254" y="104888"/>
                </a:cubicBezTo>
                <a:lnTo>
                  <a:pt x="167254" y="124732"/>
                </a:lnTo>
                <a:lnTo>
                  <a:pt x="170089" y="124732"/>
                </a:lnTo>
                <a:cubicBezTo>
                  <a:pt x="176361" y="124732"/>
                  <a:pt x="181429" y="129799"/>
                  <a:pt x="181429" y="136071"/>
                </a:cubicBezTo>
                <a:lnTo>
                  <a:pt x="181429" y="158750"/>
                </a:lnTo>
                <a:cubicBezTo>
                  <a:pt x="181429" y="165022"/>
                  <a:pt x="176361" y="170089"/>
                  <a:pt x="170089" y="170089"/>
                </a:cubicBezTo>
                <a:lnTo>
                  <a:pt x="147411" y="170089"/>
                </a:lnTo>
                <a:cubicBezTo>
                  <a:pt x="141139" y="170089"/>
                  <a:pt x="136071" y="165022"/>
                  <a:pt x="136071" y="158750"/>
                </a:cubicBezTo>
                <a:lnTo>
                  <a:pt x="136071" y="136071"/>
                </a:lnTo>
                <a:cubicBezTo>
                  <a:pt x="136071" y="129799"/>
                  <a:pt x="141139" y="124732"/>
                  <a:pt x="147411" y="124732"/>
                </a:cubicBezTo>
                <a:lnTo>
                  <a:pt x="150246" y="124732"/>
                </a:lnTo>
                <a:lnTo>
                  <a:pt x="150246" y="104888"/>
                </a:lnTo>
                <a:cubicBezTo>
                  <a:pt x="150246" y="100176"/>
                  <a:pt x="146454" y="96384"/>
                  <a:pt x="141741" y="96384"/>
                </a:cubicBezTo>
                <a:lnTo>
                  <a:pt x="99219" y="96384"/>
                </a:lnTo>
                <a:lnTo>
                  <a:pt x="99219" y="124732"/>
                </a:lnTo>
                <a:lnTo>
                  <a:pt x="102054" y="124732"/>
                </a:lnTo>
                <a:cubicBezTo>
                  <a:pt x="108326" y="124732"/>
                  <a:pt x="113393" y="129799"/>
                  <a:pt x="113393" y="136071"/>
                </a:cubicBezTo>
                <a:lnTo>
                  <a:pt x="113393" y="158750"/>
                </a:lnTo>
                <a:cubicBezTo>
                  <a:pt x="113393" y="165022"/>
                  <a:pt x="108326" y="170089"/>
                  <a:pt x="102054" y="170089"/>
                </a:cubicBezTo>
                <a:lnTo>
                  <a:pt x="79375" y="170089"/>
                </a:lnTo>
                <a:cubicBezTo>
                  <a:pt x="73103" y="170089"/>
                  <a:pt x="68036" y="165022"/>
                  <a:pt x="68036" y="158750"/>
                </a:cubicBezTo>
                <a:lnTo>
                  <a:pt x="68036" y="136071"/>
                </a:lnTo>
                <a:cubicBezTo>
                  <a:pt x="68036" y="129799"/>
                  <a:pt x="73103" y="124732"/>
                  <a:pt x="79375" y="124732"/>
                </a:cubicBezTo>
                <a:lnTo>
                  <a:pt x="82210" y="124732"/>
                </a:lnTo>
                <a:lnTo>
                  <a:pt x="82210" y="96384"/>
                </a:lnTo>
                <a:lnTo>
                  <a:pt x="39688" y="96384"/>
                </a:lnTo>
                <a:cubicBezTo>
                  <a:pt x="34975" y="96384"/>
                  <a:pt x="31183" y="100176"/>
                  <a:pt x="31183" y="104888"/>
                </a:cubicBezTo>
                <a:lnTo>
                  <a:pt x="31183" y="124732"/>
                </a:lnTo>
                <a:lnTo>
                  <a:pt x="34018" y="124732"/>
                </a:lnTo>
                <a:cubicBezTo>
                  <a:pt x="40290" y="124732"/>
                  <a:pt x="45357" y="129799"/>
                  <a:pt x="45357" y="136071"/>
                </a:cubicBezTo>
                <a:lnTo>
                  <a:pt x="45357" y="158750"/>
                </a:lnTo>
                <a:cubicBezTo>
                  <a:pt x="45357" y="165022"/>
                  <a:pt x="40290" y="170089"/>
                  <a:pt x="34018" y="170089"/>
                </a:cubicBezTo>
                <a:lnTo>
                  <a:pt x="11339" y="170089"/>
                </a:lnTo>
                <a:cubicBezTo>
                  <a:pt x="5067" y="170089"/>
                  <a:pt x="0" y="165022"/>
                  <a:pt x="0" y="158750"/>
                </a:cubicBezTo>
                <a:lnTo>
                  <a:pt x="0" y="136071"/>
                </a:lnTo>
                <a:cubicBezTo>
                  <a:pt x="0" y="129799"/>
                  <a:pt x="5067" y="124732"/>
                  <a:pt x="11339" y="124732"/>
                </a:cubicBezTo>
                <a:lnTo>
                  <a:pt x="14174" y="124732"/>
                </a:lnTo>
                <a:lnTo>
                  <a:pt x="14174" y="104888"/>
                </a:lnTo>
                <a:cubicBezTo>
                  <a:pt x="14174" y="90785"/>
                  <a:pt x="25584" y="79375"/>
                  <a:pt x="39688" y="79375"/>
                </a:cubicBezTo>
                <a:lnTo>
                  <a:pt x="82210" y="79375"/>
                </a:lnTo>
                <a:lnTo>
                  <a:pt x="82210" y="56696"/>
                </a:lnTo>
                <a:lnTo>
                  <a:pt x="79375" y="56696"/>
                </a:lnTo>
                <a:cubicBezTo>
                  <a:pt x="73103" y="56696"/>
                  <a:pt x="68036" y="51629"/>
                  <a:pt x="68036" y="45357"/>
                </a:cubicBezTo>
                <a:lnTo>
                  <a:pt x="68036" y="2267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6" name="Text 34"/>
          <p:cNvSpPr/>
          <p:nvPr/>
        </p:nvSpPr>
        <p:spPr>
          <a:xfrm>
            <a:off x="7411357" y="1386117"/>
            <a:ext cx="816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75714" y="1803403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195797" y="1857831"/>
            <a:ext cx="117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74857" y="1785260"/>
            <a:ext cx="3882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分层设计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74857" y="2039260"/>
            <a:ext cx="3873500" cy="208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模拟真实操作系统的层次结构，层与层之间通过清晰的接口进行交互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75714" y="2372635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85138" y="2427063"/>
            <a:ext cx="136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74857" y="2354492"/>
            <a:ext cx="3247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模块化架构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74857" y="2608492"/>
            <a:ext cx="3238500" cy="208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每个功能模块独立实现，高内聚低耦合，易于理解和扩展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75714" y="2941867"/>
            <a:ext cx="290286" cy="290286"/>
          </a:xfrm>
          <a:custGeom>
            <a:avLst/>
            <a:gdLst/>
            <a:ahLst/>
            <a:cxnLst/>
            <a:rect l="l" t="t" r="r" b="b"/>
            <a:pathLst>
              <a:path w="290286" h="290286">
                <a:moveTo>
                  <a:pt x="36286" y="0"/>
                </a:moveTo>
                <a:lnTo>
                  <a:pt x="254000" y="0"/>
                </a:lnTo>
                <a:cubicBezTo>
                  <a:pt x="274040" y="0"/>
                  <a:pt x="290286" y="16246"/>
                  <a:pt x="290286" y="36286"/>
                </a:cubicBezTo>
                <a:lnTo>
                  <a:pt x="290286" y="254000"/>
                </a:lnTo>
                <a:cubicBezTo>
                  <a:pt x="290286" y="274040"/>
                  <a:pt x="274040" y="290286"/>
                  <a:pt x="254000" y="290286"/>
                </a:cubicBezTo>
                <a:lnTo>
                  <a:pt x="36286" y="290286"/>
                </a:lnTo>
                <a:cubicBezTo>
                  <a:pt x="16246" y="290286"/>
                  <a:pt x="0" y="274040"/>
                  <a:pt x="0" y="254000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183438" y="2996296"/>
            <a:ext cx="136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74857" y="2923724"/>
            <a:ext cx="26760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面向对象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74857" y="3177724"/>
            <a:ext cx="2667000" cy="208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C++ 类封装，充分利用继承、多态等特性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890657" y="3721554"/>
            <a:ext cx="4933043" cy="3136900"/>
          </a:xfrm>
          <a:custGeom>
            <a:avLst/>
            <a:gdLst/>
            <a:ahLst/>
            <a:cxnLst/>
            <a:rect l="l" t="t" r="r" b="b"/>
            <a:pathLst>
              <a:path w="4933043" h="3136900">
                <a:moveTo>
                  <a:pt x="72556" y="0"/>
                </a:moveTo>
                <a:lnTo>
                  <a:pt x="4860486" y="0"/>
                </a:lnTo>
                <a:cubicBezTo>
                  <a:pt x="4900558" y="0"/>
                  <a:pt x="4933043" y="32485"/>
                  <a:pt x="4933043" y="72556"/>
                </a:cubicBezTo>
                <a:lnTo>
                  <a:pt x="4933043" y="3064344"/>
                </a:lnTo>
                <a:cubicBezTo>
                  <a:pt x="4933043" y="3104415"/>
                  <a:pt x="4900558" y="3136900"/>
                  <a:pt x="4860486" y="3136900"/>
                </a:cubicBezTo>
                <a:lnTo>
                  <a:pt x="72556" y="3136900"/>
                </a:lnTo>
                <a:cubicBezTo>
                  <a:pt x="32485" y="3136900"/>
                  <a:pt x="0" y="3104415"/>
                  <a:pt x="0" y="3064344"/>
                </a:cubicBezTo>
                <a:lnTo>
                  <a:pt x="0" y="72556"/>
                </a:lnTo>
                <a:cubicBezTo>
                  <a:pt x="0" y="32485"/>
                  <a:pt x="32485" y="0"/>
                  <a:pt x="7255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098393" y="3942896"/>
            <a:ext cx="181429" cy="181429"/>
          </a:xfrm>
          <a:custGeom>
            <a:avLst/>
            <a:gdLst/>
            <a:ahLst/>
            <a:cxnLst/>
            <a:rect l="l" t="t" r="r" b="b"/>
            <a:pathLst>
              <a:path w="181429" h="181429">
                <a:moveTo>
                  <a:pt x="178098" y="53366"/>
                </a:moveTo>
                <a:lnTo>
                  <a:pt x="144080" y="87383"/>
                </a:lnTo>
                <a:cubicBezTo>
                  <a:pt x="140820" y="90643"/>
                  <a:pt x="135965" y="91600"/>
                  <a:pt x="131713" y="89828"/>
                </a:cubicBezTo>
                <a:cubicBezTo>
                  <a:pt x="127461" y="88057"/>
                  <a:pt x="124732" y="83946"/>
                  <a:pt x="124732" y="79375"/>
                </a:cubicBezTo>
                <a:lnTo>
                  <a:pt x="124732" y="56696"/>
                </a:lnTo>
                <a:lnTo>
                  <a:pt x="11339" y="56696"/>
                </a:lnTo>
                <a:cubicBezTo>
                  <a:pt x="5067" y="56696"/>
                  <a:pt x="0" y="51629"/>
                  <a:pt x="0" y="45357"/>
                </a:cubicBezTo>
                <a:cubicBezTo>
                  <a:pt x="0" y="39085"/>
                  <a:pt x="5067" y="34018"/>
                  <a:pt x="11339" y="34018"/>
                </a:cubicBezTo>
                <a:lnTo>
                  <a:pt x="124732" y="34018"/>
                </a:lnTo>
                <a:lnTo>
                  <a:pt x="124732" y="11339"/>
                </a:lnTo>
                <a:cubicBezTo>
                  <a:pt x="124732" y="6768"/>
                  <a:pt x="127496" y="2622"/>
                  <a:pt x="131748" y="850"/>
                </a:cubicBezTo>
                <a:cubicBezTo>
                  <a:pt x="136001" y="-921"/>
                  <a:pt x="140855" y="71"/>
                  <a:pt x="144115" y="3295"/>
                </a:cubicBezTo>
                <a:lnTo>
                  <a:pt x="178133" y="37313"/>
                </a:lnTo>
                <a:cubicBezTo>
                  <a:pt x="182563" y="41743"/>
                  <a:pt x="182563" y="48936"/>
                  <a:pt x="178133" y="53366"/>
                </a:cubicBezTo>
                <a:close/>
                <a:moveTo>
                  <a:pt x="37313" y="178098"/>
                </a:moveTo>
                <a:lnTo>
                  <a:pt x="3295" y="144080"/>
                </a:lnTo>
                <a:cubicBezTo>
                  <a:pt x="-1134" y="139650"/>
                  <a:pt x="-1134" y="132457"/>
                  <a:pt x="3295" y="128028"/>
                </a:cubicBezTo>
                <a:lnTo>
                  <a:pt x="37313" y="94010"/>
                </a:lnTo>
                <a:cubicBezTo>
                  <a:pt x="40573" y="90750"/>
                  <a:pt x="45428" y="89793"/>
                  <a:pt x="49680" y="91565"/>
                </a:cubicBezTo>
                <a:cubicBezTo>
                  <a:pt x="53932" y="93336"/>
                  <a:pt x="56696" y="97482"/>
                  <a:pt x="56696" y="102054"/>
                </a:cubicBezTo>
                <a:lnTo>
                  <a:pt x="56696" y="124732"/>
                </a:lnTo>
                <a:lnTo>
                  <a:pt x="170089" y="124732"/>
                </a:lnTo>
                <a:cubicBezTo>
                  <a:pt x="176361" y="124732"/>
                  <a:pt x="181429" y="129799"/>
                  <a:pt x="181429" y="136071"/>
                </a:cubicBezTo>
                <a:cubicBezTo>
                  <a:pt x="181429" y="142343"/>
                  <a:pt x="176361" y="147411"/>
                  <a:pt x="170089" y="147411"/>
                </a:cubicBezTo>
                <a:lnTo>
                  <a:pt x="56696" y="147411"/>
                </a:lnTo>
                <a:lnTo>
                  <a:pt x="56696" y="170089"/>
                </a:lnTo>
                <a:cubicBezTo>
                  <a:pt x="56696" y="174660"/>
                  <a:pt x="53932" y="178806"/>
                  <a:pt x="49680" y="180578"/>
                </a:cubicBezTo>
                <a:cubicBezTo>
                  <a:pt x="45428" y="182350"/>
                  <a:pt x="40573" y="181358"/>
                  <a:pt x="37313" y="178133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1" name="Text 49"/>
          <p:cNvSpPr/>
          <p:nvPr/>
        </p:nvSpPr>
        <p:spPr>
          <a:xfrm>
            <a:off x="7411357" y="3906610"/>
            <a:ext cx="11792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模块协作关系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93857" y="43329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A9B4C2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307036" y="4305753"/>
            <a:ext cx="22315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接收用户命令，调用 </a:t>
            </a: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Kernel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接口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093857" y="45869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A9B4C2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307036" y="4559753"/>
            <a:ext cx="2041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调度执行，触发 </a:t>
            </a: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内存访问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93857" y="48409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A9B4C2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307036" y="4813753"/>
            <a:ext cx="2585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处理缺页，通过 </a:t>
            </a: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磁盘设备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换入换出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093857" y="50949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A9B4C2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307036" y="5067753"/>
            <a:ext cx="2295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r>
              <a:rPr lang="en-US" sz="10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管理持久化存储，依赖 </a:t>
            </a:r>
            <a:r>
              <a:rPr lang="en-US" sz="10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337" y="325337"/>
            <a:ext cx="11606394" cy="19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kern="0" spc="102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337" y="585606"/>
            <a:ext cx="11687728" cy="32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核心模块设计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8590" y="1076865"/>
            <a:ext cx="5699902" cy="2243198"/>
          </a:xfrm>
          <a:custGeom>
            <a:avLst/>
            <a:gdLst/>
            <a:ahLst/>
            <a:cxnLst/>
            <a:rect l="l" t="t" r="r" b="b"/>
            <a:pathLst>
              <a:path w="5699902" h="2243198">
                <a:moveTo>
                  <a:pt x="65075" y="0"/>
                </a:moveTo>
                <a:lnTo>
                  <a:pt x="5634827" y="0"/>
                </a:lnTo>
                <a:cubicBezTo>
                  <a:pt x="5670743" y="0"/>
                  <a:pt x="5699902" y="29159"/>
                  <a:pt x="5699902" y="65075"/>
                </a:cubicBezTo>
                <a:lnTo>
                  <a:pt x="5699902" y="2178123"/>
                </a:lnTo>
                <a:cubicBezTo>
                  <a:pt x="5699902" y="2214039"/>
                  <a:pt x="5670743" y="2243198"/>
                  <a:pt x="5634827" y="2243198"/>
                </a:cubicBezTo>
                <a:lnTo>
                  <a:pt x="65075" y="2243198"/>
                </a:lnTo>
                <a:cubicBezTo>
                  <a:pt x="29159" y="2243198"/>
                  <a:pt x="0" y="2214039"/>
                  <a:pt x="0" y="2178123"/>
                </a:cubicBezTo>
                <a:lnTo>
                  <a:pt x="0" y="65075"/>
                </a:lnTo>
                <a:cubicBezTo>
                  <a:pt x="0" y="29159"/>
                  <a:pt x="29159" y="0"/>
                  <a:pt x="6507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61978" y="1210256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59579" y="1307857"/>
            <a:ext cx="130135" cy="130135"/>
          </a:xfrm>
          <a:custGeom>
            <a:avLst/>
            <a:gdLst/>
            <a:ahLst/>
            <a:cxnLst/>
            <a:rect l="l" t="t" r="r" b="b"/>
            <a:pathLst>
              <a:path w="130135" h="130135">
                <a:moveTo>
                  <a:pt x="34008" y="9226"/>
                </a:moveTo>
                <a:cubicBezTo>
                  <a:pt x="36778" y="11158"/>
                  <a:pt x="37439" y="14971"/>
                  <a:pt x="35507" y="17716"/>
                </a:cubicBezTo>
                <a:lnTo>
                  <a:pt x="21274" y="38049"/>
                </a:lnTo>
                <a:cubicBezTo>
                  <a:pt x="20232" y="39523"/>
                  <a:pt x="18605" y="40464"/>
                  <a:pt x="16801" y="40616"/>
                </a:cubicBezTo>
                <a:cubicBezTo>
                  <a:pt x="14996" y="40769"/>
                  <a:pt x="13217" y="40159"/>
                  <a:pt x="11946" y="38888"/>
                </a:cubicBezTo>
                <a:lnTo>
                  <a:pt x="1779" y="28721"/>
                </a:lnTo>
                <a:cubicBezTo>
                  <a:pt x="-585" y="26332"/>
                  <a:pt x="-585" y="22469"/>
                  <a:pt x="1779" y="20079"/>
                </a:cubicBezTo>
                <a:cubicBezTo>
                  <a:pt x="4143" y="17690"/>
                  <a:pt x="8032" y="17716"/>
                  <a:pt x="10421" y="20079"/>
                </a:cubicBezTo>
                <a:lnTo>
                  <a:pt x="15454" y="25112"/>
                </a:lnTo>
                <a:lnTo>
                  <a:pt x="25519" y="10726"/>
                </a:lnTo>
                <a:cubicBezTo>
                  <a:pt x="27450" y="7956"/>
                  <a:pt x="31263" y="7295"/>
                  <a:pt x="34008" y="9226"/>
                </a:cubicBezTo>
                <a:close/>
                <a:moveTo>
                  <a:pt x="34008" y="49893"/>
                </a:moveTo>
                <a:cubicBezTo>
                  <a:pt x="36778" y="51825"/>
                  <a:pt x="37439" y="55638"/>
                  <a:pt x="35507" y="58383"/>
                </a:cubicBezTo>
                <a:lnTo>
                  <a:pt x="21274" y="78716"/>
                </a:lnTo>
                <a:cubicBezTo>
                  <a:pt x="20232" y="80190"/>
                  <a:pt x="18605" y="81131"/>
                  <a:pt x="16801" y="81283"/>
                </a:cubicBezTo>
                <a:cubicBezTo>
                  <a:pt x="14996" y="81436"/>
                  <a:pt x="13217" y="80826"/>
                  <a:pt x="11946" y="79555"/>
                </a:cubicBezTo>
                <a:lnTo>
                  <a:pt x="1779" y="69388"/>
                </a:lnTo>
                <a:cubicBezTo>
                  <a:pt x="-610" y="66999"/>
                  <a:pt x="-610" y="63136"/>
                  <a:pt x="1779" y="60772"/>
                </a:cubicBezTo>
                <a:cubicBezTo>
                  <a:pt x="4168" y="58408"/>
                  <a:pt x="8032" y="58383"/>
                  <a:pt x="10396" y="60772"/>
                </a:cubicBezTo>
                <a:lnTo>
                  <a:pt x="15428" y="65804"/>
                </a:lnTo>
                <a:lnTo>
                  <a:pt x="25493" y="51418"/>
                </a:lnTo>
                <a:cubicBezTo>
                  <a:pt x="27425" y="48648"/>
                  <a:pt x="31237" y="47987"/>
                  <a:pt x="33982" y="49919"/>
                </a:cubicBezTo>
                <a:close/>
                <a:moveTo>
                  <a:pt x="56934" y="24400"/>
                </a:moveTo>
                <a:cubicBezTo>
                  <a:pt x="56934" y="19901"/>
                  <a:pt x="60569" y="16267"/>
                  <a:pt x="65067" y="16267"/>
                </a:cubicBezTo>
                <a:lnTo>
                  <a:pt x="122001" y="16267"/>
                </a:lnTo>
                <a:cubicBezTo>
                  <a:pt x="126500" y="16267"/>
                  <a:pt x="130135" y="19901"/>
                  <a:pt x="130135" y="24400"/>
                </a:cubicBezTo>
                <a:cubicBezTo>
                  <a:pt x="130135" y="28899"/>
                  <a:pt x="126500" y="32534"/>
                  <a:pt x="122001" y="32534"/>
                </a:cubicBezTo>
                <a:lnTo>
                  <a:pt x="65067" y="32534"/>
                </a:lnTo>
                <a:cubicBezTo>
                  <a:pt x="60569" y="32534"/>
                  <a:pt x="56934" y="28899"/>
                  <a:pt x="56934" y="24400"/>
                </a:cubicBezTo>
                <a:close/>
                <a:moveTo>
                  <a:pt x="56934" y="65067"/>
                </a:moveTo>
                <a:cubicBezTo>
                  <a:pt x="56934" y="60569"/>
                  <a:pt x="60569" y="56934"/>
                  <a:pt x="65067" y="56934"/>
                </a:cubicBezTo>
                <a:lnTo>
                  <a:pt x="122001" y="56934"/>
                </a:lnTo>
                <a:cubicBezTo>
                  <a:pt x="126500" y="56934"/>
                  <a:pt x="130135" y="60569"/>
                  <a:pt x="130135" y="65067"/>
                </a:cubicBezTo>
                <a:cubicBezTo>
                  <a:pt x="130135" y="69566"/>
                  <a:pt x="126500" y="73201"/>
                  <a:pt x="122001" y="73201"/>
                </a:cubicBezTo>
                <a:lnTo>
                  <a:pt x="65067" y="73201"/>
                </a:lnTo>
                <a:cubicBezTo>
                  <a:pt x="60569" y="73201"/>
                  <a:pt x="56934" y="69566"/>
                  <a:pt x="56934" y="65067"/>
                </a:cubicBezTo>
                <a:close/>
                <a:moveTo>
                  <a:pt x="40667" y="105734"/>
                </a:moveTo>
                <a:cubicBezTo>
                  <a:pt x="40667" y="101236"/>
                  <a:pt x="44302" y="97601"/>
                  <a:pt x="48801" y="97601"/>
                </a:cubicBezTo>
                <a:lnTo>
                  <a:pt x="122001" y="97601"/>
                </a:lnTo>
                <a:cubicBezTo>
                  <a:pt x="126500" y="97601"/>
                  <a:pt x="130135" y="101236"/>
                  <a:pt x="130135" y="105734"/>
                </a:cubicBezTo>
                <a:cubicBezTo>
                  <a:pt x="130135" y="110233"/>
                  <a:pt x="126500" y="113868"/>
                  <a:pt x="122001" y="113868"/>
                </a:cubicBezTo>
                <a:lnTo>
                  <a:pt x="48801" y="113868"/>
                </a:lnTo>
                <a:cubicBezTo>
                  <a:pt x="44302" y="113868"/>
                  <a:pt x="40667" y="110233"/>
                  <a:pt x="40667" y="105734"/>
                </a:cubicBezTo>
                <a:close/>
                <a:moveTo>
                  <a:pt x="16267" y="95568"/>
                </a:moveTo>
                <a:cubicBezTo>
                  <a:pt x="21878" y="95568"/>
                  <a:pt x="26434" y="100123"/>
                  <a:pt x="26434" y="105734"/>
                </a:cubicBezTo>
                <a:cubicBezTo>
                  <a:pt x="26434" y="111346"/>
                  <a:pt x="21878" y="115901"/>
                  <a:pt x="16267" y="115901"/>
                </a:cubicBezTo>
                <a:cubicBezTo>
                  <a:pt x="10656" y="115901"/>
                  <a:pt x="6100" y="111346"/>
                  <a:pt x="6100" y="105734"/>
                </a:cubicBezTo>
                <a:cubicBezTo>
                  <a:pt x="6100" y="100123"/>
                  <a:pt x="10656" y="95568"/>
                  <a:pt x="16267" y="9556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" name="Text 5"/>
          <p:cNvSpPr/>
          <p:nvPr/>
        </p:nvSpPr>
        <p:spPr>
          <a:xfrm>
            <a:off x="884916" y="1259056"/>
            <a:ext cx="951610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进程管理模块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978" y="1633194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进程控制块 PCB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978" y="1828396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记录进程状态、程序计数器 PC、页表、剩余时间片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978" y="2052065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进程状态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978" y="2247267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Ready | Running | Blocked | Terminated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978" y="2442366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调度算法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978" y="2637568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时间片轮转（Round-Robin），时间片 = 3 tick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978" y="2861237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支持指令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978" y="3056439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C, R, W, FO, FC, FR, FW, DR, DD, S（共10种）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2897" y="1076865"/>
            <a:ext cx="5699902" cy="2243198"/>
          </a:xfrm>
          <a:custGeom>
            <a:avLst/>
            <a:gdLst/>
            <a:ahLst/>
            <a:cxnLst/>
            <a:rect l="l" t="t" r="r" b="b"/>
            <a:pathLst>
              <a:path w="5699902" h="2243198">
                <a:moveTo>
                  <a:pt x="65075" y="0"/>
                </a:moveTo>
                <a:lnTo>
                  <a:pt x="5634827" y="0"/>
                </a:lnTo>
                <a:cubicBezTo>
                  <a:pt x="5670743" y="0"/>
                  <a:pt x="5699902" y="29159"/>
                  <a:pt x="5699902" y="65075"/>
                </a:cubicBezTo>
                <a:lnTo>
                  <a:pt x="5699902" y="2178123"/>
                </a:lnTo>
                <a:cubicBezTo>
                  <a:pt x="5699902" y="2214039"/>
                  <a:pt x="5670743" y="2243198"/>
                  <a:pt x="5634827" y="2243198"/>
                </a:cubicBezTo>
                <a:lnTo>
                  <a:pt x="65075" y="2243198"/>
                </a:lnTo>
                <a:cubicBezTo>
                  <a:pt x="29159" y="2243198"/>
                  <a:pt x="0" y="2214039"/>
                  <a:pt x="0" y="2178123"/>
                </a:cubicBezTo>
                <a:lnTo>
                  <a:pt x="0" y="65075"/>
                </a:lnTo>
                <a:cubicBezTo>
                  <a:pt x="0" y="29159"/>
                  <a:pt x="29159" y="0"/>
                  <a:pt x="6507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6286" y="1210256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93887" y="1307857"/>
            <a:ext cx="130135" cy="130135"/>
          </a:xfrm>
          <a:custGeom>
            <a:avLst/>
            <a:gdLst/>
            <a:ahLst/>
            <a:cxnLst/>
            <a:rect l="l" t="t" r="r" b="b"/>
            <a:pathLst>
              <a:path w="130135" h="130135">
                <a:moveTo>
                  <a:pt x="16267" y="16267"/>
                </a:moveTo>
                <a:cubicBezTo>
                  <a:pt x="7295" y="16267"/>
                  <a:pt x="0" y="23562"/>
                  <a:pt x="0" y="32534"/>
                </a:cubicBezTo>
                <a:lnTo>
                  <a:pt x="0" y="34415"/>
                </a:lnTo>
                <a:cubicBezTo>
                  <a:pt x="0" y="36143"/>
                  <a:pt x="1118" y="37617"/>
                  <a:pt x="2567" y="38558"/>
                </a:cubicBezTo>
                <a:cubicBezTo>
                  <a:pt x="5922" y="40743"/>
                  <a:pt x="8133" y="44505"/>
                  <a:pt x="8133" y="48801"/>
                </a:cubicBezTo>
                <a:cubicBezTo>
                  <a:pt x="8133" y="53096"/>
                  <a:pt x="5922" y="56858"/>
                  <a:pt x="2567" y="59044"/>
                </a:cubicBezTo>
                <a:cubicBezTo>
                  <a:pt x="1118" y="59984"/>
                  <a:pt x="0" y="61458"/>
                  <a:pt x="0" y="63187"/>
                </a:cubicBezTo>
                <a:lnTo>
                  <a:pt x="0" y="77268"/>
                </a:lnTo>
                <a:lnTo>
                  <a:pt x="130135" y="77268"/>
                </a:lnTo>
                <a:lnTo>
                  <a:pt x="130135" y="63187"/>
                </a:lnTo>
                <a:cubicBezTo>
                  <a:pt x="130135" y="61458"/>
                  <a:pt x="129016" y="59984"/>
                  <a:pt x="127568" y="59044"/>
                </a:cubicBezTo>
                <a:cubicBezTo>
                  <a:pt x="124213" y="56858"/>
                  <a:pt x="122001" y="53096"/>
                  <a:pt x="122001" y="48801"/>
                </a:cubicBezTo>
                <a:cubicBezTo>
                  <a:pt x="122001" y="44505"/>
                  <a:pt x="124213" y="40743"/>
                  <a:pt x="127568" y="38558"/>
                </a:cubicBezTo>
                <a:cubicBezTo>
                  <a:pt x="129016" y="37617"/>
                  <a:pt x="130135" y="36143"/>
                  <a:pt x="130135" y="34415"/>
                </a:cubicBezTo>
                <a:lnTo>
                  <a:pt x="130135" y="32534"/>
                </a:lnTo>
                <a:cubicBezTo>
                  <a:pt x="130135" y="23562"/>
                  <a:pt x="122840" y="16267"/>
                  <a:pt x="113868" y="16267"/>
                </a:cubicBezTo>
                <a:lnTo>
                  <a:pt x="16267" y="16267"/>
                </a:lnTo>
                <a:close/>
                <a:moveTo>
                  <a:pt x="130135" y="105734"/>
                </a:moveTo>
                <a:lnTo>
                  <a:pt x="130135" y="89468"/>
                </a:lnTo>
                <a:lnTo>
                  <a:pt x="0" y="89468"/>
                </a:lnTo>
                <a:lnTo>
                  <a:pt x="0" y="105734"/>
                </a:lnTo>
                <a:cubicBezTo>
                  <a:pt x="0" y="110233"/>
                  <a:pt x="3635" y="113868"/>
                  <a:pt x="8133" y="113868"/>
                </a:cubicBezTo>
                <a:lnTo>
                  <a:pt x="24400" y="113868"/>
                </a:lnTo>
                <a:lnTo>
                  <a:pt x="24400" y="107768"/>
                </a:lnTo>
                <a:cubicBezTo>
                  <a:pt x="24400" y="104387"/>
                  <a:pt x="27120" y="101668"/>
                  <a:pt x="30500" y="101668"/>
                </a:cubicBezTo>
                <a:cubicBezTo>
                  <a:pt x="33881" y="101668"/>
                  <a:pt x="36600" y="104387"/>
                  <a:pt x="36600" y="107768"/>
                </a:cubicBezTo>
                <a:lnTo>
                  <a:pt x="36600" y="113868"/>
                </a:lnTo>
                <a:lnTo>
                  <a:pt x="58967" y="113868"/>
                </a:lnTo>
                <a:lnTo>
                  <a:pt x="58967" y="107768"/>
                </a:lnTo>
                <a:cubicBezTo>
                  <a:pt x="58967" y="104387"/>
                  <a:pt x="61687" y="101668"/>
                  <a:pt x="65067" y="101668"/>
                </a:cubicBezTo>
                <a:cubicBezTo>
                  <a:pt x="68448" y="101668"/>
                  <a:pt x="71167" y="104387"/>
                  <a:pt x="71167" y="107768"/>
                </a:cubicBezTo>
                <a:lnTo>
                  <a:pt x="71167" y="113868"/>
                </a:lnTo>
                <a:lnTo>
                  <a:pt x="93534" y="113868"/>
                </a:lnTo>
                <a:lnTo>
                  <a:pt x="93534" y="107768"/>
                </a:lnTo>
                <a:cubicBezTo>
                  <a:pt x="93534" y="104387"/>
                  <a:pt x="96254" y="101668"/>
                  <a:pt x="99634" y="101668"/>
                </a:cubicBezTo>
                <a:cubicBezTo>
                  <a:pt x="103015" y="101668"/>
                  <a:pt x="105734" y="104387"/>
                  <a:pt x="105734" y="107768"/>
                </a:cubicBezTo>
                <a:lnTo>
                  <a:pt x="105734" y="113868"/>
                </a:lnTo>
                <a:lnTo>
                  <a:pt x="122001" y="113868"/>
                </a:lnTo>
                <a:cubicBezTo>
                  <a:pt x="126500" y="113868"/>
                  <a:pt x="130135" y="110233"/>
                  <a:pt x="130135" y="105734"/>
                </a:cubicBezTo>
                <a:close/>
                <a:moveTo>
                  <a:pt x="40667" y="40667"/>
                </a:moveTo>
                <a:lnTo>
                  <a:pt x="40667" y="56934"/>
                </a:lnTo>
                <a:cubicBezTo>
                  <a:pt x="40667" y="61433"/>
                  <a:pt x="37032" y="65067"/>
                  <a:pt x="32534" y="65067"/>
                </a:cubicBezTo>
                <a:cubicBezTo>
                  <a:pt x="28035" y="65067"/>
                  <a:pt x="24400" y="61433"/>
                  <a:pt x="24400" y="56934"/>
                </a:cubicBezTo>
                <a:lnTo>
                  <a:pt x="24400" y="40667"/>
                </a:lnTo>
                <a:cubicBezTo>
                  <a:pt x="24400" y="36168"/>
                  <a:pt x="28035" y="32534"/>
                  <a:pt x="32534" y="32534"/>
                </a:cubicBezTo>
                <a:cubicBezTo>
                  <a:pt x="37032" y="32534"/>
                  <a:pt x="40667" y="36168"/>
                  <a:pt x="40667" y="40667"/>
                </a:cubicBezTo>
                <a:close/>
                <a:moveTo>
                  <a:pt x="73201" y="40667"/>
                </a:moveTo>
                <a:lnTo>
                  <a:pt x="73201" y="56934"/>
                </a:lnTo>
                <a:cubicBezTo>
                  <a:pt x="73201" y="61433"/>
                  <a:pt x="69566" y="65067"/>
                  <a:pt x="65067" y="65067"/>
                </a:cubicBezTo>
                <a:cubicBezTo>
                  <a:pt x="60569" y="65067"/>
                  <a:pt x="56934" y="61433"/>
                  <a:pt x="56934" y="56934"/>
                </a:cubicBezTo>
                <a:lnTo>
                  <a:pt x="56934" y="40667"/>
                </a:lnTo>
                <a:cubicBezTo>
                  <a:pt x="56934" y="36168"/>
                  <a:pt x="60569" y="32534"/>
                  <a:pt x="65067" y="32534"/>
                </a:cubicBezTo>
                <a:cubicBezTo>
                  <a:pt x="69566" y="32534"/>
                  <a:pt x="73201" y="36168"/>
                  <a:pt x="73201" y="40667"/>
                </a:cubicBezTo>
                <a:close/>
                <a:moveTo>
                  <a:pt x="105734" y="40667"/>
                </a:moveTo>
                <a:lnTo>
                  <a:pt x="105734" y="56934"/>
                </a:lnTo>
                <a:cubicBezTo>
                  <a:pt x="105734" y="61433"/>
                  <a:pt x="102100" y="65067"/>
                  <a:pt x="97601" y="65067"/>
                </a:cubicBezTo>
                <a:cubicBezTo>
                  <a:pt x="93102" y="65067"/>
                  <a:pt x="89468" y="61433"/>
                  <a:pt x="89468" y="56934"/>
                </a:cubicBezTo>
                <a:lnTo>
                  <a:pt x="89468" y="40667"/>
                </a:lnTo>
                <a:cubicBezTo>
                  <a:pt x="89468" y="36168"/>
                  <a:pt x="93102" y="32534"/>
                  <a:pt x="97601" y="32534"/>
                </a:cubicBezTo>
                <a:cubicBezTo>
                  <a:pt x="102100" y="32534"/>
                  <a:pt x="105734" y="36168"/>
                  <a:pt x="105734" y="40667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9" name="Text 17"/>
          <p:cNvSpPr/>
          <p:nvPr/>
        </p:nvSpPr>
        <p:spPr>
          <a:xfrm>
            <a:off x="6719223" y="1259056"/>
            <a:ext cx="951610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内存管理模块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96286" y="1633194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虚拟内存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96286" y="1828396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每进程独立虚拟地址空间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6286" y="2052065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分页机制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6286" y="2247267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页大小 4KB，物理内存 64 页框（256KB）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96286" y="2442366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页面置换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96286" y="2637568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Clock 算法（近似 LRU），按需分页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96286" y="2861237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页表项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6286" y="3056439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present, frame, dirty, referenced, on_disk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8590" y="3456503"/>
            <a:ext cx="5699902" cy="2243198"/>
          </a:xfrm>
          <a:custGeom>
            <a:avLst/>
            <a:gdLst/>
            <a:ahLst/>
            <a:cxnLst/>
            <a:rect l="l" t="t" r="r" b="b"/>
            <a:pathLst>
              <a:path w="5699902" h="2243198">
                <a:moveTo>
                  <a:pt x="65075" y="0"/>
                </a:moveTo>
                <a:lnTo>
                  <a:pt x="5634827" y="0"/>
                </a:lnTo>
                <a:cubicBezTo>
                  <a:pt x="5670743" y="0"/>
                  <a:pt x="5699902" y="29159"/>
                  <a:pt x="5699902" y="65075"/>
                </a:cubicBezTo>
                <a:lnTo>
                  <a:pt x="5699902" y="2178123"/>
                </a:lnTo>
                <a:cubicBezTo>
                  <a:pt x="5699902" y="2214039"/>
                  <a:pt x="5670743" y="2243198"/>
                  <a:pt x="5634827" y="2243198"/>
                </a:cubicBezTo>
                <a:lnTo>
                  <a:pt x="65075" y="2243198"/>
                </a:lnTo>
                <a:cubicBezTo>
                  <a:pt x="29159" y="2243198"/>
                  <a:pt x="0" y="2214039"/>
                  <a:pt x="0" y="2178123"/>
                </a:cubicBezTo>
                <a:lnTo>
                  <a:pt x="0" y="65075"/>
                </a:lnTo>
                <a:cubicBezTo>
                  <a:pt x="0" y="29159"/>
                  <a:pt x="29159" y="0"/>
                  <a:pt x="6507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978" y="3589889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1446" y="3687490"/>
            <a:ext cx="146402" cy="130135"/>
          </a:xfrm>
          <a:custGeom>
            <a:avLst/>
            <a:gdLst/>
            <a:ahLst/>
            <a:cxnLst/>
            <a:rect l="l" t="t" r="r" b="b"/>
            <a:pathLst>
              <a:path w="146402" h="130135">
                <a:moveTo>
                  <a:pt x="14233" y="57341"/>
                </a:moveTo>
                <a:lnTo>
                  <a:pt x="8235" y="75285"/>
                </a:lnTo>
                <a:lnTo>
                  <a:pt x="8235" y="24400"/>
                </a:lnTo>
                <a:cubicBezTo>
                  <a:pt x="8235" y="15428"/>
                  <a:pt x="15530" y="8133"/>
                  <a:pt x="24502" y="8133"/>
                </a:cubicBezTo>
                <a:lnTo>
                  <a:pt x="59755" y="8133"/>
                </a:lnTo>
                <a:cubicBezTo>
                  <a:pt x="63263" y="8133"/>
                  <a:pt x="66694" y="9277"/>
                  <a:pt x="69515" y="11387"/>
                </a:cubicBezTo>
                <a:lnTo>
                  <a:pt x="79275" y="18707"/>
                </a:lnTo>
                <a:cubicBezTo>
                  <a:pt x="80673" y="19774"/>
                  <a:pt x="82402" y="20334"/>
                  <a:pt x="84156" y="20334"/>
                </a:cubicBezTo>
                <a:lnTo>
                  <a:pt x="113970" y="20334"/>
                </a:lnTo>
                <a:cubicBezTo>
                  <a:pt x="122942" y="20334"/>
                  <a:pt x="130236" y="27628"/>
                  <a:pt x="130236" y="36600"/>
                </a:cubicBezTo>
                <a:lnTo>
                  <a:pt x="130236" y="40667"/>
                </a:lnTo>
                <a:lnTo>
                  <a:pt x="37363" y="40667"/>
                </a:lnTo>
                <a:cubicBezTo>
                  <a:pt x="26866" y="40667"/>
                  <a:pt x="17538" y="47377"/>
                  <a:pt x="14208" y="57341"/>
                </a:cubicBezTo>
                <a:close/>
                <a:moveTo>
                  <a:pt x="121442" y="113868"/>
                </a:moveTo>
                <a:lnTo>
                  <a:pt x="25163" y="113868"/>
                </a:lnTo>
                <a:cubicBezTo>
                  <a:pt x="16826" y="113868"/>
                  <a:pt x="10955" y="105709"/>
                  <a:pt x="13598" y="97804"/>
                </a:cubicBezTo>
                <a:lnTo>
                  <a:pt x="25798" y="61204"/>
                </a:lnTo>
                <a:cubicBezTo>
                  <a:pt x="27450" y="56222"/>
                  <a:pt x="32127" y="52867"/>
                  <a:pt x="37363" y="52867"/>
                </a:cubicBezTo>
                <a:lnTo>
                  <a:pt x="133642" y="52867"/>
                </a:lnTo>
                <a:cubicBezTo>
                  <a:pt x="141979" y="52867"/>
                  <a:pt x="147850" y="61026"/>
                  <a:pt x="145207" y="68931"/>
                </a:cubicBezTo>
                <a:lnTo>
                  <a:pt x="133007" y="105531"/>
                </a:lnTo>
                <a:cubicBezTo>
                  <a:pt x="131355" y="110513"/>
                  <a:pt x="126678" y="113868"/>
                  <a:pt x="121442" y="11386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1" name="Text 29"/>
          <p:cNvSpPr/>
          <p:nvPr/>
        </p:nvSpPr>
        <p:spPr>
          <a:xfrm>
            <a:off x="884916" y="3638690"/>
            <a:ext cx="951610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文件系统模块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1978" y="4012827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文件系统类型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1978" y="4208029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 Unix 文件系统（inode-based）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1978" y="4431698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磁盘布局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1978" y="4626901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超级块 | inode位图 | 数据块位图 | inode表 | 数据区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1978" y="4822003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1978" y="5017206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SuperBlock, Inode, DirectoryEntry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1978" y="5212304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容量规格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1978" y="5407507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 4KB，总容量 1024 块 = 4MB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2897" y="3456503"/>
            <a:ext cx="5699902" cy="2243198"/>
          </a:xfrm>
          <a:custGeom>
            <a:avLst/>
            <a:gdLst/>
            <a:ahLst/>
            <a:cxnLst/>
            <a:rect l="l" t="t" r="r" b="b"/>
            <a:pathLst>
              <a:path w="5699902" h="2243198">
                <a:moveTo>
                  <a:pt x="65075" y="0"/>
                </a:moveTo>
                <a:lnTo>
                  <a:pt x="5634827" y="0"/>
                </a:lnTo>
                <a:cubicBezTo>
                  <a:pt x="5670743" y="0"/>
                  <a:pt x="5699902" y="29159"/>
                  <a:pt x="5699902" y="65075"/>
                </a:cubicBezTo>
                <a:lnTo>
                  <a:pt x="5699902" y="2178123"/>
                </a:lnTo>
                <a:cubicBezTo>
                  <a:pt x="5699902" y="2214039"/>
                  <a:pt x="5670743" y="2243198"/>
                  <a:pt x="5634827" y="2243198"/>
                </a:cubicBezTo>
                <a:lnTo>
                  <a:pt x="65075" y="2243198"/>
                </a:lnTo>
                <a:cubicBezTo>
                  <a:pt x="29159" y="2243198"/>
                  <a:pt x="0" y="2214039"/>
                  <a:pt x="0" y="2178123"/>
                </a:cubicBezTo>
                <a:lnTo>
                  <a:pt x="0" y="65075"/>
                </a:lnTo>
                <a:cubicBezTo>
                  <a:pt x="0" y="29159"/>
                  <a:pt x="29159" y="0"/>
                  <a:pt x="6507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96286" y="3589889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02020" y="3687490"/>
            <a:ext cx="113868" cy="130135"/>
          </a:xfrm>
          <a:custGeom>
            <a:avLst/>
            <a:gdLst/>
            <a:ahLst/>
            <a:cxnLst/>
            <a:rect l="l" t="t" r="r" b="b"/>
            <a:pathLst>
              <a:path w="113868" h="130135">
                <a:moveTo>
                  <a:pt x="16267" y="8133"/>
                </a:moveTo>
                <a:cubicBezTo>
                  <a:pt x="7295" y="8133"/>
                  <a:pt x="0" y="15428"/>
                  <a:pt x="0" y="24400"/>
                </a:cubicBezTo>
                <a:lnTo>
                  <a:pt x="0" y="66109"/>
                </a:lnTo>
                <a:cubicBezTo>
                  <a:pt x="4600" y="62882"/>
                  <a:pt x="10218" y="61001"/>
                  <a:pt x="16267" y="61001"/>
                </a:cubicBezTo>
                <a:lnTo>
                  <a:pt x="97601" y="61001"/>
                </a:lnTo>
                <a:cubicBezTo>
                  <a:pt x="103650" y="61001"/>
                  <a:pt x="109267" y="62882"/>
                  <a:pt x="113868" y="66109"/>
                </a:cubicBezTo>
                <a:lnTo>
                  <a:pt x="113868" y="24400"/>
                </a:lnTo>
                <a:cubicBezTo>
                  <a:pt x="113868" y="15428"/>
                  <a:pt x="106573" y="8133"/>
                  <a:pt x="97601" y="8133"/>
                </a:cubicBezTo>
                <a:lnTo>
                  <a:pt x="16267" y="8133"/>
                </a:lnTo>
                <a:close/>
                <a:moveTo>
                  <a:pt x="113868" y="89468"/>
                </a:moveTo>
                <a:cubicBezTo>
                  <a:pt x="113868" y="80495"/>
                  <a:pt x="106573" y="73201"/>
                  <a:pt x="97601" y="73201"/>
                </a:cubicBezTo>
                <a:lnTo>
                  <a:pt x="16267" y="73201"/>
                </a:lnTo>
                <a:cubicBezTo>
                  <a:pt x="7295" y="73201"/>
                  <a:pt x="0" y="80495"/>
                  <a:pt x="0" y="89468"/>
                </a:cubicBezTo>
                <a:lnTo>
                  <a:pt x="0" y="105734"/>
                </a:lnTo>
                <a:cubicBezTo>
                  <a:pt x="0" y="114707"/>
                  <a:pt x="7295" y="122001"/>
                  <a:pt x="16267" y="122001"/>
                </a:cubicBezTo>
                <a:lnTo>
                  <a:pt x="97601" y="122001"/>
                </a:lnTo>
                <a:cubicBezTo>
                  <a:pt x="106573" y="122001"/>
                  <a:pt x="113868" y="114707"/>
                  <a:pt x="113868" y="105734"/>
                </a:cubicBezTo>
                <a:lnTo>
                  <a:pt x="113868" y="89468"/>
                </a:lnTo>
                <a:close/>
                <a:moveTo>
                  <a:pt x="56934" y="97601"/>
                </a:moveTo>
                <a:cubicBezTo>
                  <a:pt x="56934" y="93112"/>
                  <a:pt x="60578" y="89468"/>
                  <a:pt x="65067" y="89468"/>
                </a:cubicBezTo>
                <a:cubicBezTo>
                  <a:pt x="69556" y="89468"/>
                  <a:pt x="73201" y="93112"/>
                  <a:pt x="73201" y="97601"/>
                </a:cubicBezTo>
                <a:cubicBezTo>
                  <a:pt x="73201" y="102090"/>
                  <a:pt x="69556" y="105734"/>
                  <a:pt x="65067" y="105734"/>
                </a:cubicBezTo>
                <a:cubicBezTo>
                  <a:pt x="60578" y="105734"/>
                  <a:pt x="56934" y="102090"/>
                  <a:pt x="56934" y="97601"/>
                </a:cubicBezTo>
                <a:close/>
                <a:moveTo>
                  <a:pt x="89468" y="89468"/>
                </a:moveTo>
                <a:cubicBezTo>
                  <a:pt x="93957" y="89468"/>
                  <a:pt x="97601" y="93112"/>
                  <a:pt x="97601" y="97601"/>
                </a:cubicBezTo>
                <a:cubicBezTo>
                  <a:pt x="97601" y="102090"/>
                  <a:pt x="93957" y="105734"/>
                  <a:pt x="89468" y="105734"/>
                </a:cubicBezTo>
                <a:cubicBezTo>
                  <a:pt x="84979" y="105734"/>
                  <a:pt x="81334" y="102090"/>
                  <a:pt x="81334" y="97601"/>
                </a:cubicBezTo>
                <a:cubicBezTo>
                  <a:pt x="81334" y="93112"/>
                  <a:pt x="84979" y="89468"/>
                  <a:pt x="89468" y="8946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3" name="Text 41"/>
          <p:cNvSpPr/>
          <p:nvPr/>
        </p:nvSpPr>
        <p:spPr>
          <a:xfrm>
            <a:off x="6719223" y="3638690"/>
            <a:ext cx="951610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设备管理模块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96286" y="4012827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磁盘设备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96286" y="4208029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模拟块设备，disk.img 作为存储介质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96286" y="4431698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块规格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96286" y="4626901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 512 字节，总容量 2048 块 = 1MB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96286" y="4822003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 操作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96286" y="5017206"/>
            <a:ext cx="548192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read_block / write_block 按块读写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96286" y="5240875"/>
            <a:ext cx="5490060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96286" y="5436077"/>
            <a:ext cx="5481927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文件系统持久化、虚拟内存页面交换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8590" y="5836136"/>
            <a:ext cx="11531566" cy="1015051"/>
          </a:xfrm>
          <a:custGeom>
            <a:avLst/>
            <a:gdLst/>
            <a:ahLst/>
            <a:cxnLst/>
            <a:rect l="l" t="t" r="r" b="b"/>
            <a:pathLst>
              <a:path w="11531566" h="1015051">
                <a:moveTo>
                  <a:pt x="65065" y="0"/>
                </a:moveTo>
                <a:lnTo>
                  <a:pt x="11466501" y="0"/>
                </a:lnTo>
                <a:cubicBezTo>
                  <a:pt x="11502436" y="0"/>
                  <a:pt x="11531566" y="29130"/>
                  <a:pt x="11531566" y="65065"/>
                </a:cubicBezTo>
                <a:lnTo>
                  <a:pt x="11531566" y="949986"/>
                </a:lnTo>
                <a:cubicBezTo>
                  <a:pt x="11531566" y="985921"/>
                  <a:pt x="11502436" y="1015051"/>
                  <a:pt x="11466501" y="1015051"/>
                </a:cubicBezTo>
                <a:lnTo>
                  <a:pt x="65065" y="1015051"/>
                </a:lnTo>
                <a:cubicBezTo>
                  <a:pt x="29130" y="1015051"/>
                  <a:pt x="0" y="985921"/>
                  <a:pt x="0" y="949986"/>
                </a:cubicBezTo>
                <a:lnTo>
                  <a:pt x="0" y="65065"/>
                </a:lnTo>
                <a:cubicBezTo>
                  <a:pt x="0" y="29155"/>
                  <a:pt x="29155" y="0"/>
                  <a:pt x="6506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978" y="5969527"/>
            <a:ext cx="325337" cy="325337"/>
          </a:xfrm>
          <a:custGeom>
            <a:avLst/>
            <a:gdLst/>
            <a:ahLst/>
            <a:cxnLst/>
            <a:rect l="l" t="t" r="r" b="b"/>
            <a:pathLst>
              <a:path w="325337" h="325337">
                <a:moveTo>
                  <a:pt x="65067" y="0"/>
                </a:moveTo>
                <a:lnTo>
                  <a:pt x="260270" y="0"/>
                </a:lnTo>
                <a:cubicBezTo>
                  <a:pt x="296181" y="0"/>
                  <a:pt x="325337" y="29156"/>
                  <a:pt x="325337" y="65067"/>
                </a:cubicBezTo>
                <a:lnTo>
                  <a:pt x="325337" y="260270"/>
                </a:lnTo>
                <a:cubicBezTo>
                  <a:pt x="325337" y="296205"/>
                  <a:pt x="296205" y="325337"/>
                  <a:pt x="260270" y="325337"/>
                </a:cubicBezTo>
                <a:lnTo>
                  <a:pt x="65067" y="325337"/>
                </a:lnTo>
                <a:cubicBezTo>
                  <a:pt x="29156" y="325337"/>
                  <a:pt x="0" y="296181"/>
                  <a:pt x="0" y="260270"/>
                </a:cubicBezTo>
                <a:lnTo>
                  <a:pt x="0" y="65067"/>
                </a:lnTo>
                <a:cubicBezTo>
                  <a:pt x="0" y="29132"/>
                  <a:pt x="29132" y="0"/>
                  <a:pt x="65067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59579" y="6067128"/>
            <a:ext cx="130135" cy="130135"/>
          </a:xfrm>
          <a:custGeom>
            <a:avLst/>
            <a:gdLst/>
            <a:ahLst/>
            <a:cxnLst/>
            <a:rect l="l" t="t" r="r" b="b"/>
            <a:pathLst>
              <a:path w="130135" h="130135">
                <a:moveTo>
                  <a:pt x="2389" y="30144"/>
                </a:moveTo>
                <a:cubicBezTo>
                  <a:pt x="-788" y="26967"/>
                  <a:pt x="-788" y="21808"/>
                  <a:pt x="2389" y="18631"/>
                </a:cubicBezTo>
                <a:cubicBezTo>
                  <a:pt x="5566" y="15454"/>
                  <a:pt x="10726" y="15454"/>
                  <a:pt x="13903" y="18631"/>
                </a:cubicBezTo>
                <a:lnTo>
                  <a:pt x="54570" y="59298"/>
                </a:lnTo>
                <a:cubicBezTo>
                  <a:pt x="57747" y="62475"/>
                  <a:pt x="57747" y="67634"/>
                  <a:pt x="54570" y="70812"/>
                </a:cubicBezTo>
                <a:lnTo>
                  <a:pt x="13903" y="111479"/>
                </a:lnTo>
                <a:cubicBezTo>
                  <a:pt x="10726" y="114656"/>
                  <a:pt x="5566" y="114656"/>
                  <a:pt x="2389" y="111479"/>
                </a:cubicBezTo>
                <a:cubicBezTo>
                  <a:pt x="-788" y="108302"/>
                  <a:pt x="-788" y="103142"/>
                  <a:pt x="2389" y="99965"/>
                </a:cubicBezTo>
                <a:lnTo>
                  <a:pt x="37287" y="65067"/>
                </a:lnTo>
                <a:lnTo>
                  <a:pt x="2389" y="30144"/>
                </a:lnTo>
                <a:close/>
                <a:moveTo>
                  <a:pt x="56934" y="97601"/>
                </a:moveTo>
                <a:lnTo>
                  <a:pt x="122001" y="97601"/>
                </a:lnTo>
                <a:cubicBezTo>
                  <a:pt x="126500" y="97601"/>
                  <a:pt x="130135" y="101236"/>
                  <a:pt x="130135" y="105734"/>
                </a:cubicBezTo>
                <a:cubicBezTo>
                  <a:pt x="130135" y="110233"/>
                  <a:pt x="126500" y="113868"/>
                  <a:pt x="122001" y="113868"/>
                </a:cubicBezTo>
                <a:lnTo>
                  <a:pt x="56934" y="113868"/>
                </a:lnTo>
                <a:cubicBezTo>
                  <a:pt x="52435" y="113868"/>
                  <a:pt x="48801" y="110233"/>
                  <a:pt x="48801" y="105734"/>
                </a:cubicBezTo>
                <a:cubicBezTo>
                  <a:pt x="48801" y="101236"/>
                  <a:pt x="52435" y="97601"/>
                  <a:pt x="56934" y="9760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5" name="Text 53"/>
          <p:cNvSpPr/>
          <p:nvPr/>
        </p:nvSpPr>
        <p:spPr>
          <a:xfrm>
            <a:off x="884916" y="6018327"/>
            <a:ext cx="1016678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交互模块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61978" y="6392465"/>
            <a:ext cx="279789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命令解析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1978" y="6587667"/>
            <a:ext cx="2789764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按空格分割参数，分发执行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302678" y="6392465"/>
            <a:ext cx="279789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系统命令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02678" y="6587667"/>
            <a:ext cx="2789764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15+ 条命令：ps, create, kill, tick...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143377" y="6392465"/>
            <a:ext cx="279789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脚本支持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143377" y="6587667"/>
            <a:ext cx="2789764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.tsh 批处理脚本执行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984077" y="6392465"/>
            <a:ext cx="2797897" cy="16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7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84077" y="6587667"/>
            <a:ext cx="2789764" cy="13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9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pagetable, mem, memstats 命令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eb7469ce8916e2e05360f08529e14d0cd70ea264.jpg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2245995"/>
            <a:ext cx="748665" cy="748665"/>
          </a:xfrm>
          <a:custGeom>
            <a:avLst/>
            <a:gdLst/>
            <a:ahLst/>
            <a:cxnLst/>
            <a:rect l="l" t="t" r="r" b="b"/>
            <a:pathLst>
              <a:path w="748665" h="748665">
                <a:moveTo>
                  <a:pt x="374333" y="0"/>
                </a:moveTo>
                <a:lnTo>
                  <a:pt x="374333" y="0"/>
                </a:lnTo>
                <a:cubicBezTo>
                  <a:pt x="581071" y="0"/>
                  <a:pt x="748665" y="167594"/>
                  <a:pt x="748665" y="374333"/>
                </a:cubicBezTo>
                <a:lnTo>
                  <a:pt x="748665" y="374333"/>
                </a:lnTo>
                <a:cubicBezTo>
                  <a:pt x="748665" y="581071"/>
                  <a:pt x="581071" y="748665"/>
                  <a:pt x="374333" y="748665"/>
                </a:cubicBezTo>
                <a:lnTo>
                  <a:pt x="374333" y="748665"/>
                </a:lnTo>
                <a:cubicBezTo>
                  <a:pt x="167594" y="748665"/>
                  <a:pt x="0" y="581071"/>
                  <a:pt x="0" y="374333"/>
                </a:cubicBezTo>
                <a:lnTo>
                  <a:pt x="0" y="374333"/>
                </a:lnTo>
                <a:cubicBezTo>
                  <a:pt x="0" y="167594"/>
                  <a:pt x="167594" y="0"/>
                  <a:pt x="374332" y="0"/>
                </a:cubicBezTo>
                <a:close/>
              </a:path>
            </a:pathLst>
          </a:custGeom>
          <a:solidFill>
            <a:srgbClr val="4A6D8C">
              <a:alpha val="30196"/>
            </a:srgbClr>
          </a:solidFill>
          <a:ln w="20320">
            <a:solidFill>
              <a:srgbClr val="A9B4C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5307" y="2428875"/>
            <a:ext cx="581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A9B4C2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2614613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B4C2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3228975"/>
            <a:ext cx="3086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进展情况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314825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9B4C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已完成工作与测试成果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7468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 &amp; CODE QUALITY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617316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已完成工作与代码质量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383" y="1135176"/>
            <a:ext cx="6325779" cy="2621880"/>
          </a:xfrm>
          <a:custGeom>
            <a:avLst/>
            <a:gdLst/>
            <a:ahLst/>
            <a:cxnLst/>
            <a:rect l="l" t="t" r="r" b="b"/>
            <a:pathLst>
              <a:path w="6325779" h="2621880">
                <a:moveTo>
                  <a:pt x="68588" y="0"/>
                </a:moveTo>
                <a:lnTo>
                  <a:pt x="6257191" y="0"/>
                </a:lnTo>
                <a:cubicBezTo>
                  <a:pt x="6295071" y="0"/>
                  <a:pt x="6325779" y="30708"/>
                  <a:pt x="6325779" y="68588"/>
                </a:cubicBezTo>
                <a:lnTo>
                  <a:pt x="6325779" y="2553292"/>
                </a:lnTo>
                <a:cubicBezTo>
                  <a:pt x="6325779" y="2591172"/>
                  <a:pt x="6295071" y="2621880"/>
                  <a:pt x="6257191" y="2621880"/>
                </a:cubicBezTo>
                <a:lnTo>
                  <a:pt x="68588" y="2621880"/>
                </a:lnTo>
                <a:cubicBezTo>
                  <a:pt x="30708" y="2621880"/>
                  <a:pt x="0" y="2591172"/>
                  <a:pt x="0" y="2553292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59" y="1344381"/>
            <a:ext cx="128608" cy="171477"/>
          </a:xfrm>
          <a:custGeom>
            <a:avLst/>
            <a:gdLst/>
            <a:ahLst/>
            <a:cxnLst/>
            <a:rect l="l" t="t" r="r" b="b"/>
            <a:pathLst>
              <a:path w="128608" h="171477">
                <a:moveTo>
                  <a:pt x="83695" y="22372"/>
                </a:moveTo>
                <a:cubicBezTo>
                  <a:pt x="87179" y="17583"/>
                  <a:pt x="86107" y="10885"/>
                  <a:pt x="81318" y="7402"/>
                </a:cubicBezTo>
                <a:cubicBezTo>
                  <a:pt x="76528" y="3919"/>
                  <a:pt x="69830" y="4990"/>
                  <a:pt x="66347" y="9780"/>
                </a:cubicBezTo>
                <a:lnTo>
                  <a:pt x="30846" y="58577"/>
                </a:lnTo>
                <a:lnTo>
                  <a:pt x="18286" y="46017"/>
                </a:lnTo>
                <a:cubicBezTo>
                  <a:pt x="14100" y="41831"/>
                  <a:pt x="7301" y="41831"/>
                  <a:pt x="3115" y="46017"/>
                </a:cubicBezTo>
                <a:cubicBezTo>
                  <a:pt x="-1072" y="50204"/>
                  <a:pt x="-1072" y="57003"/>
                  <a:pt x="3115" y="61189"/>
                </a:cubicBezTo>
                <a:lnTo>
                  <a:pt x="24549" y="82624"/>
                </a:lnTo>
                <a:cubicBezTo>
                  <a:pt x="26760" y="84834"/>
                  <a:pt x="29841" y="85973"/>
                  <a:pt x="32956" y="85738"/>
                </a:cubicBezTo>
                <a:cubicBezTo>
                  <a:pt x="36070" y="85504"/>
                  <a:pt x="38951" y="83896"/>
                  <a:pt x="40793" y="81351"/>
                </a:cubicBezTo>
                <a:lnTo>
                  <a:pt x="83662" y="22406"/>
                </a:lnTo>
                <a:close/>
                <a:moveTo>
                  <a:pt x="126565" y="67921"/>
                </a:moveTo>
                <a:cubicBezTo>
                  <a:pt x="130048" y="63132"/>
                  <a:pt x="128976" y="56433"/>
                  <a:pt x="124187" y="52950"/>
                </a:cubicBezTo>
                <a:cubicBezTo>
                  <a:pt x="119397" y="49467"/>
                  <a:pt x="112699" y="50539"/>
                  <a:pt x="109216" y="55328"/>
                </a:cubicBezTo>
                <a:lnTo>
                  <a:pt x="52280" y="133598"/>
                </a:lnTo>
                <a:lnTo>
                  <a:pt x="29004" y="110321"/>
                </a:lnTo>
                <a:cubicBezTo>
                  <a:pt x="24817" y="106135"/>
                  <a:pt x="18018" y="106135"/>
                  <a:pt x="13832" y="110321"/>
                </a:cubicBezTo>
                <a:cubicBezTo>
                  <a:pt x="9646" y="114508"/>
                  <a:pt x="9646" y="121306"/>
                  <a:pt x="13832" y="125493"/>
                </a:cubicBezTo>
                <a:lnTo>
                  <a:pt x="45984" y="157645"/>
                </a:lnTo>
                <a:cubicBezTo>
                  <a:pt x="48194" y="159855"/>
                  <a:pt x="51276" y="160994"/>
                  <a:pt x="54390" y="160759"/>
                </a:cubicBezTo>
                <a:cubicBezTo>
                  <a:pt x="57505" y="160525"/>
                  <a:pt x="60385" y="158917"/>
                  <a:pt x="62227" y="156372"/>
                </a:cubicBezTo>
                <a:lnTo>
                  <a:pt x="126531" y="67954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" name="Text 4"/>
          <p:cNvSpPr/>
          <p:nvPr/>
        </p:nvSpPr>
        <p:spPr>
          <a:xfrm>
            <a:off x="838522" y="1310085"/>
            <a:ext cx="128607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核心模块完成度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4719" y="1690764"/>
            <a:ext cx="2930538" cy="555585"/>
          </a:xfrm>
          <a:custGeom>
            <a:avLst/>
            <a:gdLst/>
            <a:ahLst/>
            <a:cxnLst/>
            <a:rect l="l" t="t" r="r" b="b"/>
            <a:pathLst>
              <a:path w="2930538" h="555585">
                <a:moveTo>
                  <a:pt x="68593" y="0"/>
                </a:moveTo>
                <a:lnTo>
                  <a:pt x="2861946" y="0"/>
                </a:lnTo>
                <a:cubicBezTo>
                  <a:pt x="2899828" y="0"/>
                  <a:pt x="2930538" y="30710"/>
                  <a:pt x="2930538" y="68593"/>
                </a:cubicBezTo>
                <a:lnTo>
                  <a:pt x="2930538" y="486992"/>
                </a:lnTo>
                <a:cubicBezTo>
                  <a:pt x="2930538" y="524875"/>
                  <a:pt x="2899828" y="555585"/>
                  <a:pt x="2861946" y="555585"/>
                </a:cubicBezTo>
                <a:lnTo>
                  <a:pt x="68593" y="555585"/>
                </a:lnTo>
                <a:cubicBezTo>
                  <a:pt x="30710" y="555585"/>
                  <a:pt x="0" y="524875"/>
                  <a:pt x="0" y="486992"/>
                </a:cubicBezTo>
                <a:lnTo>
                  <a:pt x="0" y="68593"/>
                </a:lnTo>
                <a:cubicBezTo>
                  <a:pt x="0" y="30735"/>
                  <a:pt x="30735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035" y="1797078"/>
            <a:ext cx="6173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07917" y="1797078"/>
            <a:ext cx="40297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035" y="2071440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1035" y="2071440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2430" y="1690764"/>
            <a:ext cx="2930538" cy="555585"/>
          </a:xfrm>
          <a:custGeom>
            <a:avLst/>
            <a:gdLst/>
            <a:ahLst/>
            <a:cxnLst/>
            <a:rect l="l" t="t" r="r" b="b"/>
            <a:pathLst>
              <a:path w="2930538" h="555585">
                <a:moveTo>
                  <a:pt x="68593" y="0"/>
                </a:moveTo>
                <a:lnTo>
                  <a:pt x="2861946" y="0"/>
                </a:lnTo>
                <a:cubicBezTo>
                  <a:pt x="2899828" y="0"/>
                  <a:pt x="2930538" y="30710"/>
                  <a:pt x="2930538" y="68593"/>
                </a:cubicBezTo>
                <a:lnTo>
                  <a:pt x="2930538" y="486992"/>
                </a:lnTo>
                <a:cubicBezTo>
                  <a:pt x="2930538" y="524875"/>
                  <a:pt x="2899828" y="555585"/>
                  <a:pt x="2861946" y="555585"/>
                </a:cubicBezTo>
                <a:lnTo>
                  <a:pt x="68593" y="555585"/>
                </a:lnTo>
                <a:cubicBezTo>
                  <a:pt x="30710" y="555585"/>
                  <a:pt x="0" y="524875"/>
                  <a:pt x="0" y="486992"/>
                </a:cubicBezTo>
                <a:lnTo>
                  <a:pt x="0" y="68593"/>
                </a:lnTo>
                <a:cubicBezTo>
                  <a:pt x="0" y="30735"/>
                  <a:pt x="30735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8746" y="1797078"/>
            <a:ext cx="6173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45736" y="1797078"/>
            <a:ext cx="40297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68746" y="2071440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68746" y="2071440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7" name="Shape 15"/>
          <p:cNvSpPr/>
          <p:nvPr/>
        </p:nvSpPr>
        <p:spPr>
          <a:xfrm>
            <a:off x="524719" y="2356090"/>
            <a:ext cx="2930538" cy="555585"/>
          </a:xfrm>
          <a:custGeom>
            <a:avLst/>
            <a:gdLst/>
            <a:ahLst/>
            <a:cxnLst/>
            <a:rect l="l" t="t" r="r" b="b"/>
            <a:pathLst>
              <a:path w="2930538" h="555585">
                <a:moveTo>
                  <a:pt x="68593" y="0"/>
                </a:moveTo>
                <a:lnTo>
                  <a:pt x="2861946" y="0"/>
                </a:lnTo>
                <a:cubicBezTo>
                  <a:pt x="2899828" y="0"/>
                  <a:pt x="2930538" y="30710"/>
                  <a:pt x="2930538" y="68593"/>
                </a:cubicBezTo>
                <a:lnTo>
                  <a:pt x="2930538" y="486992"/>
                </a:lnTo>
                <a:cubicBezTo>
                  <a:pt x="2930538" y="524875"/>
                  <a:pt x="2899828" y="555585"/>
                  <a:pt x="2861946" y="555585"/>
                </a:cubicBezTo>
                <a:lnTo>
                  <a:pt x="68593" y="555585"/>
                </a:lnTo>
                <a:cubicBezTo>
                  <a:pt x="30710" y="555585"/>
                  <a:pt x="0" y="524875"/>
                  <a:pt x="0" y="486992"/>
                </a:cubicBezTo>
                <a:lnTo>
                  <a:pt x="0" y="68593"/>
                </a:lnTo>
                <a:cubicBezTo>
                  <a:pt x="0" y="30735"/>
                  <a:pt x="30735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035" y="2462408"/>
            <a:ext cx="6173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07917" y="2462408"/>
            <a:ext cx="40297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1035" y="2736771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1036" y="2709331"/>
            <a:ext cx="2268683" cy="9603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A9B4C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562430" y="2356090"/>
            <a:ext cx="2930538" cy="555585"/>
          </a:xfrm>
          <a:custGeom>
            <a:avLst/>
            <a:gdLst/>
            <a:ahLst/>
            <a:cxnLst/>
            <a:rect l="l" t="t" r="r" b="b"/>
            <a:pathLst>
              <a:path w="2930538" h="555585">
                <a:moveTo>
                  <a:pt x="68593" y="0"/>
                </a:moveTo>
                <a:lnTo>
                  <a:pt x="2861946" y="0"/>
                </a:lnTo>
                <a:cubicBezTo>
                  <a:pt x="2899828" y="0"/>
                  <a:pt x="2930538" y="30710"/>
                  <a:pt x="2930538" y="68593"/>
                </a:cubicBezTo>
                <a:lnTo>
                  <a:pt x="2930538" y="486992"/>
                </a:lnTo>
                <a:cubicBezTo>
                  <a:pt x="2930538" y="524875"/>
                  <a:pt x="2899828" y="555585"/>
                  <a:pt x="2861946" y="555585"/>
                </a:cubicBezTo>
                <a:lnTo>
                  <a:pt x="68593" y="555585"/>
                </a:lnTo>
                <a:cubicBezTo>
                  <a:pt x="30710" y="555585"/>
                  <a:pt x="0" y="524875"/>
                  <a:pt x="0" y="486992"/>
                </a:cubicBezTo>
                <a:lnTo>
                  <a:pt x="0" y="68593"/>
                </a:lnTo>
                <a:cubicBezTo>
                  <a:pt x="0" y="30735"/>
                  <a:pt x="30735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68746" y="2462408"/>
            <a:ext cx="61731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45736" y="2462408"/>
            <a:ext cx="40297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68746" y="2736771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68746" y="2736771"/>
            <a:ext cx="2717907" cy="68591"/>
          </a:xfrm>
          <a:custGeom>
            <a:avLst/>
            <a:gdLst/>
            <a:ahLst/>
            <a:cxnLst/>
            <a:rect l="l" t="t" r="r" b="b"/>
            <a:pathLst>
              <a:path w="2717907" h="68591">
                <a:moveTo>
                  <a:pt x="34295" y="0"/>
                </a:moveTo>
                <a:lnTo>
                  <a:pt x="2683612" y="0"/>
                </a:lnTo>
                <a:cubicBezTo>
                  <a:pt x="2702553" y="0"/>
                  <a:pt x="2717907" y="15355"/>
                  <a:pt x="2717907" y="34295"/>
                </a:cubicBezTo>
                <a:lnTo>
                  <a:pt x="2717907" y="34295"/>
                </a:lnTo>
                <a:cubicBezTo>
                  <a:pt x="2717907" y="53236"/>
                  <a:pt x="2702553" y="68591"/>
                  <a:pt x="2683612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7" name="Shape 25"/>
          <p:cNvSpPr/>
          <p:nvPr/>
        </p:nvSpPr>
        <p:spPr>
          <a:xfrm>
            <a:off x="524719" y="3021421"/>
            <a:ext cx="5965678" cy="555585"/>
          </a:xfrm>
          <a:custGeom>
            <a:avLst/>
            <a:gdLst/>
            <a:ahLst/>
            <a:cxnLst/>
            <a:rect l="l" t="t" r="r" b="b"/>
            <a:pathLst>
              <a:path w="5965678" h="555585">
                <a:moveTo>
                  <a:pt x="68593" y="0"/>
                </a:moveTo>
                <a:lnTo>
                  <a:pt x="5897085" y="0"/>
                </a:lnTo>
                <a:cubicBezTo>
                  <a:pt x="5934968" y="0"/>
                  <a:pt x="5965678" y="30710"/>
                  <a:pt x="5965678" y="68593"/>
                </a:cubicBezTo>
                <a:lnTo>
                  <a:pt x="5965678" y="486992"/>
                </a:lnTo>
                <a:cubicBezTo>
                  <a:pt x="5965678" y="524875"/>
                  <a:pt x="5934968" y="555585"/>
                  <a:pt x="5897085" y="555585"/>
                </a:cubicBezTo>
                <a:lnTo>
                  <a:pt x="68593" y="555585"/>
                </a:lnTo>
                <a:cubicBezTo>
                  <a:pt x="30710" y="555585"/>
                  <a:pt x="0" y="524875"/>
                  <a:pt x="0" y="486992"/>
                </a:cubicBezTo>
                <a:lnTo>
                  <a:pt x="0" y="68593"/>
                </a:lnTo>
                <a:cubicBezTo>
                  <a:pt x="0" y="30735"/>
                  <a:pt x="30735" y="0"/>
                  <a:pt x="685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31035" y="3127739"/>
            <a:ext cx="685907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交互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45736" y="3127739"/>
            <a:ext cx="40297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035" y="3402102"/>
            <a:ext cx="5753046" cy="68591"/>
          </a:xfrm>
          <a:custGeom>
            <a:avLst/>
            <a:gdLst/>
            <a:ahLst/>
            <a:cxnLst/>
            <a:rect l="l" t="t" r="r" b="b"/>
            <a:pathLst>
              <a:path w="5753046" h="68591">
                <a:moveTo>
                  <a:pt x="34295" y="0"/>
                </a:moveTo>
                <a:lnTo>
                  <a:pt x="5718751" y="0"/>
                </a:lnTo>
                <a:cubicBezTo>
                  <a:pt x="5737692" y="0"/>
                  <a:pt x="5753046" y="15355"/>
                  <a:pt x="5753046" y="34295"/>
                </a:cubicBezTo>
                <a:lnTo>
                  <a:pt x="5753046" y="34295"/>
                </a:lnTo>
                <a:cubicBezTo>
                  <a:pt x="5753046" y="53236"/>
                  <a:pt x="5737692" y="68591"/>
                  <a:pt x="5718751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1035" y="3402102"/>
            <a:ext cx="5753046" cy="68591"/>
          </a:xfrm>
          <a:custGeom>
            <a:avLst/>
            <a:gdLst/>
            <a:ahLst/>
            <a:cxnLst/>
            <a:rect l="l" t="t" r="r" b="b"/>
            <a:pathLst>
              <a:path w="5753046" h="68591">
                <a:moveTo>
                  <a:pt x="34295" y="0"/>
                </a:moveTo>
                <a:lnTo>
                  <a:pt x="5718751" y="0"/>
                </a:lnTo>
                <a:cubicBezTo>
                  <a:pt x="5737692" y="0"/>
                  <a:pt x="5753046" y="15355"/>
                  <a:pt x="5753046" y="34295"/>
                </a:cubicBezTo>
                <a:lnTo>
                  <a:pt x="5753046" y="34295"/>
                </a:lnTo>
                <a:cubicBezTo>
                  <a:pt x="5753046" y="53236"/>
                  <a:pt x="5737692" y="68591"/>
                  <a:pt x="5718751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2" name="Shape 30"/>
          <p:cNvSpPr/>
          <p:nvPr/>
        </p:nvSpPr>
        <p:spPr>
          <a:xfrm>
            <a:off x="346383" y="3899386"/>
            <a:ext cx="6325779" cy="2956260"/>
          </a:xfrm>
          <a:custGeom>
            <a:avLst/>
            <a:gdLst/>
            <a:ahLst/>
            <a:cxnLst/>
            <a:rect l="l" t="t" r="r" b="b"/>
            <a:pathLst>
              <a:path w="6325779" h="2956260">
                <a:moveTo>
                  <a:pt x="68585" y="0"/>
                </a:moveTo>
                <a:lnTo>
                  <a:pt x="6257194" y="0"/>
                </a:lnTo>
                <a:cubicBezTo>
                  <a:pt x="6295072" y="0"/>
                  <a:pt x="6325779" y="30707"/>
                  <a:pt x="6325779" y="68585"/>
                </a:cubicBezTo>
                <a:lnTo>
                  <a:pt x="6325779" y="2887675"/>
                </a:lnTo>
                <a:cubicBezTo>
                  <a:pt x="6325779" y="2925553"/>
                  <a:pt x="6295072" y="2956260"/>
                  <a:pt x="6257194" y="2956260"/>
                </a:cubicBezTo>
                <a:lnTo>
                  <a:pt x="68585" y="2956260"/>
                </a:lnTo>
                <a:cubicBezTo>
                  <a:pt x="30707" y="2956260"/>
                  <a:pt x="0" y="2925553"/>
                  <a:pt x="0" y="2887675"/>
                </a:cubicBezTo>
                <a:lnTo>
                  <a:pt x="0" y="68585"/>
                </a:lnTo>
                <a:cubicBezTo>
                  <a:pt x="0" y="30732"/>
                  <a:pt x="30732" y="0"/>
                  <a:pt x="6858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4159" y="4108586"/>
            <a:ext cx="128608" cy="171477"/>
          </a:xfrm>
          <a:custGeom>
            <a:avLst/>
            <a:gdLst/>
            <a:ahLst/>
            <a:cxnLst/>
            <a:rect l="l" t="t" r="r" b="b"/>
            <a:pathLst>
              <a:path w="128608" h="171477">
                <a:moveTo>
                  <a:pt x="0" y="21435"/>
                </a:moveTo>
                <a:cubicBezTo>
                  <a:pt x="0" y="9612"/>
                  <a:pt x="9612" y="0"/>
                  <a:pt x="21435" y="0"/>
                </a:cubicBezTo>
                <a:lnTo>
                  <a:pt x="71504" y="0"/>
                </a:lnTo>
                <a:cubicBezTo>
                  <a:pt x="77198" y="0"/>
                  <a:pt x="82657" y="2244"/>
                  <a:pt x="86676" y="6263"/>
                </a:cubicBezTo>
                <a:lnTo>
                  <a:pt x="122345" y="41965"/>
                </a:lnTo>
                <a:cubicBezTo>
                  <a:pt x="126364" y="45984"/>
                  <a:pt x="128608" y="51443"/>
                  <a:pt x="128608" y="57137"/>
                </a:cubicBezTo>
                <a:lnTo>
                  <a:pt x="128608" y="150042"/>
                </a:lnTo>
                <a:cubicBezTo>
                  <a:pt x="128608" y="161865"/>
                  <a:pt x="118996" y="171477"/>
                  <a:pt x="107173" y="171477"/>
                </a:cubicBezTo>
                <a:lnTo>
                  <a:pt x="21435" y="171477"/>
                </a:lnTo>
                <a:cubicBezTo>
                  <a:pt x="9612" y="171477"/>
                  <a:pt x="0" y="161865"/>
                  <a:pt x="0" y="150042"/>
                </a:cubicBezTo>
                <a:lnTo>
                  <a:pt x="0" y="21435"/>
                </a:lnTo>
                <a:close/>
                <a:moveTo>
                  <a:pt x="69662" y="19593"/>
                </a:moveTo>
                <a:lnTo>
                  <a:pt x="69662" y="50907"/>
                </a:lnTo>
                <a:cubicBezTo>
                  <a:pt x="69662" y="55362"/>
                  <a:pt x="73246" y="58945"/>
                  <a:pt x="77700" y="58945"/>
                </a:cubicBezTo>
                <a:lnTo>
                  <a:pt x="109015" y="58945"/>
                </a:lnTo>
                <a:lnTo>
                  <a:pt x="69662" y="19593"/>
                </a:lnTo>
                <a:close/>
                <a:moveTo>
                  <a:pt x="51644" y="99001"/>
                </a:moveTo>
                <a:cubicBezTo>
                  <a:pt x="54524" y="95618"/>
                  <a:pt x="54156" y="90561"/>
                  <a:pt x="50773" y="87681"/>
                </a:cubicBezTo>
                <a:cubicBezTo>
                  <a:pt x="47391" y="84801"/>
                  <a:pt x="42333" y="85169"/>
                  <a:pt x="39453" y="88552"/>
                </a:cubicBezTo>
                <a:lnTo>
                  <a:pt x="23377" y="107307"/>
                </a:lnTo>
                <a:cubicBezTo>
                  <a:pt x="20798" y="110321"/>
                  <a:pt x="20798" y="114742"/>
                  <a:pt x="23377" y="117756"/>
                </a:cubicBezTo>
                <a:lnTo>
                  <a:pt x="39453" y="136512"/>
                </a:lnTo>
                <a:cubicBezTo>
                  <a:pt x="42333" y="139894"/>
                  <a:pt x="47424" y="140263"/>
                  <a:pt x="50773" y="137382"/>
                </a:cubicBezTo>
                <a:cubicBezTo>
                  <a:pt x="54122" y="134502"/>
                  <a:pt x="54524" y="129411"/>
                  <a:pt x="51644" y="126062"/>
                </a:cubicBezTo>
                <a:lnTo>
                  <a:pt x="40056" y="112532"/>
                </a:lnTo>
                <a:lnTo>
                  <a:pt x="51644" y="99001"/>
                </a:lnTo>
                <a:close/>
                <a:moveTo>
                  <a:pt x="89155" y="88552"/>
                </a:moveTo>
                <a:cubicBezTo>
                  <a:pt x="86274" y="85169"/>
                  <a:pt x="81184" y="84801"/>
                  <a:pt x="77834" y="87681"/>
                </a:cubicBezTo>
                <a:cubicBezTo>
                  <a:pt x="74485" y="90561"/>
                  <a:pt x="74083" y="95652"/>
                  <a:pt x="76964" y="99001"/>
                </a:cubicBezTo>
                <a:lnTo>
                  <a:pt x="88552" y="112532"/>
                </a:lnTo>
                <a:lnTo>
                  <a:pt x="76964" y="126062"/>
                </a:lnTo>
                <a:cubicBezTo>
                  <a:pt x="74083" y="129445"/>
                  <a:pt x="74452" y="134502"/>
                  <a:pt x="77834" y="137382"/>
                </a:cubicBezTo>
                <a:cubicBezTo>
                  <a:pt x="81217" y="140263"/>
                  <a:pt x="86274" y="139894"/>
                  <a:pt x="89155" y="136512"/>
                </a:cubicBezTo>
                <a:lnTo>
                  <a:pt x="105230" y="117756"/>
                </a:lnTo>
                <a:cubicBezTo>
                  <a:pt x="107809" y="114742"/>
                  <a:pt x="107809" y="110321"/>
                  <a:pt x="105230" y="107307"/>
                </a:cubicBezTo>
                <a:lnTo>
                  <a:pt x="89155" y="88552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4" name="Text 32"/>
          <p:cNvSpPr/>
          <p:nvPr/>
        </p:nvSpPr>
        <p:spPr>
          <a:xfrm>
            <a:off x="838522" y="4074290"/>
            <a:ext cx="77164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代码统计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4719" y="4454969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731" y="4561283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1026" y="4904236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源文件+头文件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549860" y="4454969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1872" y="4561283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626167" y="4904236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总行数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5001" y="4454969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013" y="4561283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~2.5K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51308" y="4904236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源代码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4719" y="5291772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731" y="5398094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~1.5K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1026" y="5741048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注释行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549860" y="5291772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91872" y="5398094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626167" y="5741048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5001" y="5291772"/>
            <a:ext cx="1918825" cy="727062"/>
          </a:xfrm>
          <a:custGeom>
            <a:avLst/>
            <a:gdLst/>
            <a:ahLst/>
            <a:cxnLst/>
            <a:rect l="l" t="t" r="r" b="b"/>
            <a:pathLst>
              <a:path w="1918825" h="727062">
                <a:moveTo>
                  <a:pt x="68591" y="0"/>
                </a:moveTo>
                <a:lnTo>
                  <a:pt x="1850234" y="0"/>
                </a:lnTo>
                <a:cubicBezTo>
                  <a:pt x="1888116" y="0"/>
                  <a:pt x="1918825" y="30709"/>
                  <a:pt x="1918825" y="68591"/>
                </a:cubicBezTo>
                <a:lnTo>
                  <a:pt x="1918825" y="658471"/>
                </a:lnTo>
                <a:cubicBezTo>
                  <a:pt x="1918825" y="696352"/>
                  <a:pt x="1888116" y="727062"/>
                  <a:pt x="1850234" y="727062"/>
                </a:cubicBezTo>
                <a:lnTo>
                  <a:pt x="68591" y="727062"/>
                </a:lnTo>
                <a:cubicBezTo>
                  <a:pt x="30735" y="727062"/>
                  <a:pt x="0" y="696327"/>
                  <a:pt x="0" y="658471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013" y="5398094"/>
            <a:ext cx="1834802" cy="30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25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51308" y="5741048"/>
            <a:ext cx="176621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文档文件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47176" y="1135176"/>
            <a:ext cx="4996834" cy="2544716"/>
          </a:xfrm>
          <a:custGeom>
            <a:avLst/>
            <a:gdLst/>
            <a:ahLst/>
            <a:cxnLst/>
            <a:rect l="l" t="t" r="r" b="b"/>
            <a:pathLst>
              <a:path w="4996834" h="2544716">
                <a:moveTo>
                  <a:pt x="68580" y="0"/>
                </a:moveTo>
                <a:lnTo>
                  <a:pt x="4928254" y="0"/>
                </a:lnTo>
                <a:cubicBezTo>
                  <a:pt x="4966129" y="0"/>
                  <a:pt x="4996834" y="30704"/>
                  <a:pt x="4996834" y="68580"/>
                </a:cubicBezTo>
                <a:lnTo>
                  <a:pt x="4996834" y="2476136"/>
                </a:lnTo>
                <a:cubicBezTo>
                  <a:pt x="4996834" y="2514011"/>
                  <a:pt x="4966129" y="2544716"/>
                  <a:pt x="4928254" y="2544716"/>
                </a:cubicBezTo>
                <a:lnTo>
                  <a:pt x="68580" y="2544716"/>
                </a:lnTo>
                <a:cubicBezTo>
                  <a:pt x="30704" y="2544716"/>
                  <a:pt x="0" y="2514011"/>
                  <a:pt x="0" y="2476136"/>
                </a:cubicBezTo>
                <a:lnTo>
                  <a:pt x="0" y="68580"/>
                </a:lnTo>
                <a:cubicBezTo>
                  <a:pt x="0" y="30730"/>
                  <a:pt x="30730" y="0"/>
                  <a:pt x="685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7054234" y="1344381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82356" y="-8674"/>
                </a:moveTo>
                <a:cubicBezTo>
                  <a:pt x="77868" y="-11421"/>
                  <a:pt x="72208" y="-11421"/>
                  <a:pt x="67720" y="-8674"/>
                </a:cubicBezTo>
                <a:cubicBezTo>
                  <a:pt x="59548" y="-3684"/>
                  <a:pt x="54491" y="-2344"/>
                  <a:pt x="44912" y="-2545"/>
                </a:cubicBezTo>
                <a:cubicBezTo>
                  <a:pt x="39654" y="-2679"/>
                  <a:pt x="34764" y="167"/>
                  <a:pt x="32219" y="4789"/>
                </a:cubicBezTo>
                <a:cubicBezTo>
                  <a:pt x="27631" y="13196"/>
                  <a:pt x="23913" y="16913"/>
                  <a:pt x="15507" y="21502"/>
                </a:cubicBezTo>
                <a:cubicBezTo>
                  <a:pt x="10885" y="24013"/>
                  <a:pt x="8071" y="28937"/>
                  <a:pt x="8172" y="34195"/>
                </a:cubicBezTo>
                <a:cubicBezTo>
                  <a:pt x="8406" y="43773"/>
                  <a:pt x="7033" y="48831"/>
                  <a:pt x="2043" y="57003"/>
                </a:cubicBezTo>
                <a:cubicBezTo>
                  <a:pt x="-703" y="61491"/>
                  <a:pt x="-703" y="67151"/>
                  <a:pt x="2043" y="71638"/>
                </a:cubicBezTo>
                <a:cubicBezTo>
                  <a:pt x="7033" y="79810"/>
                  <a:pt x="8373" y="84868"/>
                  <a:pt x="8172" y="94446"/>
                </a:cubicBezTo>
                <a:cubicBezTo>
                  <a:pt x="8038" y="99704"/>
                  <a:pt x="10885" y="104594"/>
                  <a:pt x="15507" y="107140"/>
                </a:cubicBezTo>
                <a:cubicBezTo>
                  <a:pt x="22908" y="111192"/>
                  <a:pt x="26659" y="114541"/>
                  <a:pt x="30611" y="121039"/>
                </a:cubicBezTo>
                <a:lnTo>
                  <a:pt x="14301" y="153559"/>
                </a:lnTo>
                <a:cubicBezTo>
                  <a:pt x="12325" y="157544"/>
                  <a:pt x="13932" y="162367"/>
                  <a:pt x="17884" y="164343"/>
                </a:cubicBezTo>
                <a:lnTo>
                  <a:pt x="46687" y="178744"/>
                </a:lnTo>
                <a:cubicBezTo>
                  <a:pt x="50539" y="180653"/>
                  <a:pt x="55228" y="179213"/>
                  <a:pt x="57304" y="175462"/>
                </a:cubicBezTo>
                <a:lnTo>
                  <a:pt x="74988" y="143612"/>
                </a:lnTo>
                <a:lnTo>
                  <a:pt x="92671" y="175462"/>
                </a:lnTo>
                <a:cubicBezTo>
                  <a:pt x="94748" y="179213"/>
                  <a:pt x="99436" y="180687"/>
                  <a:pt x="103288" y="178744"/>
                </a:cubicBezTo>
                <a:lnTo>
                  <a:pt x="132091" y="164343"/>
                </a:lnTo>
                <a:cubicBezTo>
                  <a:pt x="136076" y="162367"/>
                  <a:pt x="137684" y="157544"/>
                  <a:pt x="135674" y="153559"/>
                </a:cubicBezTo>
                <a:lnTo>
                  <a:pt x="119397" y="121005"/>
                </a:lnTo>
                <a:cubicBezTo>
                  <a:pt x="123316" y="114508"/>
                  <a:pt x="127100" y="111158"/>
                  <a:pt x="134502" y="107106"/>
                </a:cubicBezTo>
                <a:cubicBezTo>
                  <a:pt x="139124" y="104594"/>
                  <a:pt x="141937" y="99671"/>
                  <a:pt x="141837" y="94413"/>
                </a:cubicBezTo>
                <a:cubicBezTo>
                  <a:pt x="141602" y="84834"/>
                  <a:pt x="142975" y="79777"/>
                  <a:pt x="147966" y="71605"/>
                </a:cubicBezTo>
                <a:cubicBezTo>
                  <a:pt x="150712" y="67117"/>
                  <a:pt x="150712" y="61457"/>
                  <a:pt x="147966" y="56969"/>
                </a:cubicBezTo>
                <a:cubicBezTo>
                  <a:pt x="142975" y="48797"/>
                  <a:pt x="141636" y="43740"/>
                  <a:pt x="141837" y="34161"/>
                </a:cubicBezTo>
                <a:cubicBezTo>
                  <a:pt x="141971" y="28903"/>
                  <a:pt x="139124" y="24013"/>
                  <a:pt x="134502" y="21468"/>
                </a:cubicBezTo>
                <a:cubicBezTo>
                  <a:pt x="126096" y="16880"/>
                  <a:pt x="122378" y="13162"/>
                  <a:pt x="117790" y="4756"/>
                </a:cubicBezTo>
                <a:cubicBezTo>
                  <a:pt x="115278" y="134"/>
                  <a:pt x="110355" y="-2679"/>
                  <a:pt x="105097" y="-2579"/>
                </a:cubicBezTo>
                <a:cubicBezTo>
                  <a:pt x="95518" y="-2344"/>
                  <a:pt x="90461" y="-3718"/>
                  <a:pt x="82289" y="-8708"/>
                </a:cubicBezTo>
                <a:close/>
                <a:moveTo>
                  <a:pt x="75021" y="32152"/>
                </a:moveTo>
                <a:cubicBezTo>
                  <a:pt x="92766" y="32152"/>
                  <a:pt x="107173" y="46559"/>
                  <a:pt x="107173" y="64304"/>
                </a:cubicBezTo>
                <a:cubicBezTo>
                  <a:pt x="107173" y="82049"/>
                  <a:pt x="92766" y="96456"/>
                  <a:pt x="75021" y="96456"/>
                </a:cubicBezTo>
                <a:cubicBezTo>
                  <a:pt x="57276" y="96456"/>
                  <a:pt x="42869" y="82049"/>
                  <a:pt x="42869" y="64304"/>
                </a:cubicBezTo>
                <a:cubicBezTo>
                  <a:pt x="42869" y="46559"/>
                  <a:pt x="57276" y="32152"/>
                  <a:pt x="75021" y="3215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5" name="Text 53"/>
          <p:cNvSpPr/>
          <p:nvPr/>
        </p:nvSpPr>
        <p:spPr>
          <a:xfrm>
            <a:off x="7339314" y="1310085"/>
            <a:ext cx="77164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代码质量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39230" y="1721630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7" name="Text 55"/>
          <p:cNvSpPr/>
          <p:nvPr/>
        </p:nvSpPr>
        <p:spPr>
          <a:xfrm>
            <a:off x="7296445" y="1687334"/>
            <a:ext cx="198913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96445" y="1893106"/>
            <a:ext cx="198055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头文件与源文件分离，高内聚低耦合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039230" y="220176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0" name="Text 58"/>
          <p:cNvSpPr/>
          <p:nvPr/>
        </p:nvSpPr>
        <p:spPr>
          <a:xfrm>
            <a:off x="7296445" y="2167469"/>
            <a:ext cx="216918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面向对象编程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296445" y="2373241"/>
            <a:ext cx="216060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类封装，继承多态，充分利用 C++ 特性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039230" y="2681900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3" name="Text 61"/>
          <p:cNvSpPr/>
          <p:nvPr/>
        </p:nvSpPr>
        <p:spPr>
          <a:xfrm>
            <a:off x="7296445" y="2647604"/>
            <a:ext cx="223777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智能指针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296445" y="2853376"/>
            <a:ext cx="222919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std::shared_ptr 自动内存管理，避免泄漏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039230" y="316203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68591" y="137181"/>
                </a:moveTo>
                <a:cubicBezTo>
                  <a:pt x="106447" y="137181"/>
                  <a:pt x="137181" y="106447"/>
                  <a:pt x="137181" y="68591"/>
                </a:cubicBezTo>
                <a:cubicBezTo>
                  <a:pt x="137181" y="30734"/>
                  <a:pt x="106447" y="0"/>
                  <a:pt x="68591" y="0"/>
                </a:cubicBezTo>
                <a:cubicBezTo>
                  <a:pt x="30734" y="0"/>
                  <a:pt x="0" y="30734"/>
                  <a:pt x="0" y="68591"/>
                </a:cubicBezTo>
                <a:cubicBezTo>
                  <a:pt x="0" y="106447"/>
                  <a:pt x="30734" y="137181"/>
                  <a:pt x="68591" y="137181"/>
                </a:cubicBezTo>
                <a:close/>
                <a:moveTo>
                  <a:pt x="91204" y="56989"/>
                </a:moveTo>
                <a:lnTo>
                  <a:pt x="69770" y="91285"/>
                </a:lnTo>
                <a:cubicBezTo>
                  <a:pt x="68644" y="93080"/>
                  <a:pt x="66715" y="94205"/>
                  <a:pt x="64599" y="94312"/>
                </a:cubicBezTo>
                <a:cubicBezTo>
                  <a:pt x="62482" y="94419"/>
                  <a:pt x="60446" y="93455"/>
                  <a:pt x="59186" y="91740"/>
                </a:cubicBezTo>
                <a:lnTo>
                  <a:pt x="46326" y="74592"/>
                </a:lnTo>
                <a:cubicBezTo>
                  <a:pt x="44182" y="71752"/>
                  <a:pt x="44772" y="67733"/>
                  <a:pt x="47612" y="65590"/>
                </a:cubicBezTo>
                <a:cubicBezTo>
                  <a:pt x="50452" y="63446"/>
                  <a:pt x="54471" y="64036"/>
                  <a:pt x="56614" y="66876"/>
                </a:cubicBezTo>
                <a:lnTo>
                  <a:pt x="63848" y="76522"/>
                </a:lnTo>
                <a:lnTo>
                  <a:pt x="80299" y="50184"/>
                </a:lnTo>
                <a:cubicBezTo>
                  <a:pt x="82175" y="47183"/>
                  <a:pt x="86140" y="46245"/>
                  <a:pt x="89168" y="48147"/>
                </a:cubicBezTo>
                <a:cubicBezTo>
                  <a:pt x="92196" y="50050"/>
                  <a:pt x="93107" y="53988"/>
                  <a:pt x="91204" y="57016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6" name="Text 64"/>
          <p:cNvSpPr/>
          <p:nvPr/>
        </p:nvSpPr>
        <p:spPr>
          <a:xfrm>
            <a:off x="7296445" y="3127739"/>
            <a:ext cx="114889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296445" y="3333511"/>
            <a:ext cx="114032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完善的错误处理机制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847176" y="3823938"/>
            <a:ext cx="4996834" cy="3033424"/>
          </a:xfrm>
          <a:custGeom>
            <a:avLst/>
            <a:gdLst/>
            <a:ahLst/>
            <a:cxnLst/>
            <a:rect l="l" t="t" r="r" b="b"/>
            <a:pathLst>
              <a:path w="4996834" h="3033424">
                <a:moveTo>
                  <a:pt x="68586" y="0"/>
                </a:moveTo>
                <a:lnTo>
                  <a:pt x="4928248" y="0"/>
                </a:lnTo>
                <a:cubicBezTo>
                  <a:pt x="4966127" y="0"/>
                  <a:pt x="4996834" y="30707"/>
                  <a:pt x="4996834" y="68586"/>
                </a:cubicBezTo>
                <a:lnTo>
                  <a:pt x="4996834" y="2964839"/>
                </a:lnTo>
                <a:cubicBezTo>
                  <a:pt x="4996834" y="3002718"/>
                  <a:pt x="4966127" y="3033424"/>
                  <a:pt x="4928248" y="3033424"/>
                </a:cubicBezTo>
                <a:lnTo>
                  <a:pt x="68586" y="3033424"/>
                </a:lnTo>
                <a:cubicBezTo>
                  <a:pt x="30707" y="3033424"/>
                  <a:pt x="0" y="3002718"/>
                  <a:pt x="0" y="2964839"/>
                </a:cubicBezTo>
                <a:lnTo>
                  <a:pt x="0" y="68586"/>
                </a:lnTo>
                <a:cubicBezTo>
                  <a:pt x="0" y="30707"/>
                  <a:pt x="30707" y="0"/>
                  <a:pt x="68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15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7054234" y="4033138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128608" y="171477"/>
                </a:moveTo>
                <a:lnTo>
                  <a:pt x="32152" y="171477"/>
                </a:lnTo>
                <a:cubicBezTo>
                  <a:pt x="14401" y="171477"/>
                  <a:pt x="0" y="157075"/>
                  <a:pt x="0" y="139325"/>
                </a:cubicBezTo>
                <a:lnTo>
                  <a:pt x="0" y="32152"/>
                </a:lnTo>
                <a:cubicBezTo>
                  <a:pt x="0" y="14401"/>
                  <a:pt x="14401" y="0"/>
                  <a:pt x="32152" y="0"/>
                </a:cubicBezTo>
                <a:lnTo>
                  <a:pt x="133966" y="0"/>
                </a:lnTo>
                <a:cubicBezTo>
                  <a:pt x="142842" y="0"/>
                  <a:pt x="150042" y="7201"/>
                  <a:pt x="150042" y="16076"/>
                </a:cubicBezTo>
                <a:lnTo>
                  <a:pt x="150042" y="112532"/>
                </a:lnTo>
                <a:cubicBezTo>
                  <a:pt x="150042" y="119531"/>
                  <a:pt x="145554" y="125493"/>
                  <a:pt x="139325" y="127703"/>
                </a:cubicBezTo>
                <a:lnTo>
                  <a:pt x="139325" y="150042"/>
                </a:lnTo>
                <a:cubicBezTo>
                  <a:pt x="145253" y="150042"/>
                  <a:pt x="150042" y="154831"/>
                  <a:pt x="150042" y="160759"/>
                </a:cubicBezTo>
                <a:cubicBezTo>
                  <a:pt x="150042" y="166688"/>
                  <a:pt x="145253" y="171477"/>
                  <a:pt x="139325" y="171477"/>
                </a:cubicBezTo>
                <a:lnTo>
                  <a:pt x="128608" y="171477"/>
                </a:lnTo>
                <a:close/>
                <a:moveTo>
                  <a:pt x="32152" y="128608"/>
                </a:moveTo>
                <a:cubicBezTo>
                  <a:pt x="26224" y="128608"/>
                  <a:pt x="21435" y="133397"/>
                  <a:pt x="21435" y="139325"/>
                </a:cubicBezTo>
                <a:cubicBezTo>
                  <a:pt x="21435" y="145253"/>
                  <a:pt x="26224" y="150042"/>
                  <a:pt x="32152" y="150042"/>
                </a:cubicBezTo>
                <a:lnTo>
                  <a:pt x="117890" y="150042"/>
                </a:lnTo>
                <a:lnTo>
                  <a:pt x="117890" y="128608"/>
                </a:lnTo>
                <a:lnTo>
                  <a:pt x="32152" y="128608"/>
                </a:lnTo>
                <a:close/>
                <a:moveTo>
                  <a:pt x="42869" y="50907"/>
                </a:moveTo>
                <a:cubicBezTo>
                  <a:pt x="42869" y="55362"/>
                  <a:pt x="46453" y="58945"/>
                  <a:pt x="50907" y="58945"/>
                </a:cubicBezTo>
                <a:lnTo>
                  <a:pt x="109852" y="58945"/>
                </a:lnTo>
                <a:cubicBezTo>
                  <a:pt x="114307" y="58945"/>
                  <a:pt x="117890" y="55362"/>
                  <a:pt x="117890" y="50907"/>
                </a:cubicBezTo>
                <a:cubicBezTo>
                  <a:pt x="117890" y="46453"/>
                  <a:pt x="114307" y="42869"/>
                  <a:pt x="109852" y="42869"/>
                </a:cubicBezTo>
                <a:lnTo>
                  <a:pt x="50907" y="42869"/>
                </a:lnTo>
                <a:cubicBezTo>
                  <a:pt x="46453" y="42869"/>
                  <a:pt x="42869" y="46453"/>
                  <a:pt x="42869" y="50907"/>
                </a:cubicBezTo>
                <a:close/>
                <a:moveTo>
                  <a:pt x="50907" y="75021"/>
                </a:moveTo>
                <a:cubicBezTo>
                  <a:pt x="46453" y="75021"/>
                  <a:pt x="42869" y="78605"/>
                  <a:pt x="42869" y="83059"/>
                </a:cubicBezTo>
                <a:cubicBezTo>
                  <a:pt x="42869" y="87513"/>
                  <a:pt x="46453" y="91097"/>
                  <a:pt x="50907" y="91097"/>
                </a:cubicBezTo>
                <a:lnTo>
                  <a:pt x="109852" y="91097"/>
                </a:lnTo>
                <a:cubicBezTo>
                  <a:pt x="114307" y="91097"/>
                  <a:pt x="117890" y="87513"/>
                  <a:pt x="117890" y="83059"/>
                </a:cubicBezTo>
                <a:cubicBezTo>
                  <a:pt x="117890" y="78605"/>
                  <a:pt x="114307" y="75021"/>
                  <a:pt x="109852" y="75021"/>
                </a:cubicBezTo>
                <a:lnTo>
                  <a:pt x="50907" y="7502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0" name="Text 68"/>
          <p:cNvSpPr/>
          <p:nvPr/>
        </p:nvSpPr>
        <p:spPr>
          <a:xfrm>
            <a:off x="7339314" y="3998842"/>
            <a:ext cx="943122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文档完善度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022082" y="4376091"/>
            <a:ext cx="4647021" cy="308658"/>
          </a:xfrm>
          <a:custGeom>
            <a:avLst/>
            <a:gdLst/>
            <a:ahLst/>
            <a:cxnLst/>
            <a:rect l="l" t="t" r="r" b="b"/>
            <a:pathLst>
              <a:path w="4647021" h="308658">
                <a:moveTo>
                  <a:pt x="34295" y="0"/>
                </a:moveTo>
                <a:lnTo>
                  <a:pt x="4612726" y="0"/>
                </a:lnTo>
                <a:cubicBezTo>
                  <a:pt x="4631667" y="0"/>
                  <a:pt x="4647021" y="15354"/>
                  <a:pt x="4647021" y="34295"/>
                </a:cubicBezTo>
                <a:lnTo>
                  <a:pt x="4647021" y="274363"/>
                </a:lnTo>
                <a:cubicBezTo>
                  <a:pt x="4647021" y="293304"/>
                  <a:pt x="4631667" y="308658"/>
                  <a:pt x="4612726" y="308658"/>
                </a:cubicBezTo>
                <a:lnTo>
                  <a:pt x="34295" y="308658"/>
                </a:lnTo>
                <a:cubicBezTo>
                  <a:pt x="15367" y="308658"/>
                  <a:pt x="0" y="293291"/>
                  <a:pt x="0" y="274363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7090673" y="4444682"/>
            <a:ext cx="754498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123807" y="4444682"/>
            <a:ext cx="54015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项目介绍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022082" y="4753340"/>
            <a:ext cx="4647021" cy="308658"/>
          </a:xfrm>
          <a:custGeom>
            <a:avLst/>
            <a:gdLst/>
            <a:ahLst/>
            <a:cxnLst/>
            <a:rect l="l" t="t" r="r" b="b"/>
            <a:pathLst>
              <a:path w="4647021" h="308658">
                <a:moveTo>
                  <a:pt x="34295" y="0"/>
                </a:moveTo>
                <a:lnTo>
                  <a:pt x="4612726" y="0"/>
                </a:lnTo>
                <a:cubicBezTo>
                  <a:pt x="4631667" y="0"/>
                  <a:pt x="4647021" y="15354"/>
                  <a:pt x="4647021" y="34295"/>
                </a:cubicBezTo>
                <a:lnTo>
                  <a:pt x="4647021" y="274363"/>
                </a:lnTo>
                <a:cubicBezTo>
                  <a:pt x="4647021" y="293304"/>
                  <a:pt x="4631667" y="308658"/>
                  <a:pt x="4612726" y="308658"/>
                </a:cubicBezTo>
                <a:lnTo>
                  <a:pt x="34295" y="308658"/>
                </a:lnTo>
                <a:cubicBezTo>
                  <a:pt x="15367" y="308658"/>
                  <a:pt x="0" y="293291"/>
                  <a:pt x="0" y="274363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7090673" y="4821931"/>
            <a:ext cx="9945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START_HERE.md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123807" y="4821931"/>
            <a:ext cx="54015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快速开始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022082" y="5130589"/>
            <a:ext cx="4647021" cy="308658"/>
          </a:xfrm>
          <a:custGeom>
            <a:avLst/>
            <a:gdLst/>
            <a:ahLst/>
            <a:cxnLst/>
            <a:rect l="l" t="t" r="r" b="b"/>
            <a:pathLst>
              <a:path w="4647021" h="308658">
                <a:moveTo>
                  <a:pt x="34295" y="0"/>
                </a:moveTo>
                <a:lnTo>
                  <a:pt x="4612726" y="0"/>
                </a:lnTo>
                <a:cubicBezTo>
                  <a:pt x="4631667" y="0"/>
                  <a:pt x="4647021" y="15354"/>
                  <a:pt x="4647021" y="34295"/>
                </a:cubicBezTo>
                <a:lnTo>
                  <a:pt x="4647021" y="274363"/>
                </a:lnTo>
                <a:cubicBezTo>
                  <a:pt x="4647021" y="293304"/>
                  <a:pt x="4631667" y="308658"/>
                  <a:pt x="4612726" y="308658"/>
                </a:cubicBezTo>
                <a:lnTo>
                  <a:pt x="34295" y="308658"/>
                </a:lnTo>
                <a:cubicBezTo>
                  <a:pt x="15367" y="308658"/>
                  <a:pt x="0" y="293291"/>
                  <a:pt x="0" y="274363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7090673" y="5199180"/>
            <a:ext cx="74592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学习指南.md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123807" y="5199180"/>
            <a:ext cx="54015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学习路线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022082" y="5507838"/>
            <a:ext cx="4647021" cy="308658"/>
          </a:xfrm>
          <a:custGeom>
            <a:avLst/>
            <a:gdLst/>
            <a:ahLst/>
            <a:cxnLst/>
            <a:rect l="l" t="t" r="r" b="b"/>
            <a:pathLst>
              <a:path w="4647021" h="308658">
                <a:moveTo>
                  <a:pt x="34295" y="0"/>
                </a:moveTo>
                <a:lnTo>
                  <a:pt x="4612726" y="0"/>
                </a:lnTo>
                <a:cubicBezTo>
                  <a:pt x="4631667" y="0"/>
                  <a:pt x="4647021" y="15354"/>
                  <a:pt x="4647021" y="34295"/>
                </a:cubicBezTo>
                <a:lnTo>
                  <a:pt x="4647021" y="274363"/>
                </a:lnTo>
                <a:cubicBezTo>
                  <a:pt x="4647021" y="293304"/>
                  <a:pt x="4631667" y="308658"/>
                  <a:pt x="4612726" y="308658"/>
                </a:cubicBezTo>
                <a:lnTo>
                  <a:pt x="34295" y="308658"/>
                </a:lnTo>
                <a:cubicBezTo>
                  <a:pt x="15367" y="308658"/>
                  <a:pt x="0" y="293291"/>
                  <a:pt x="0" y="274363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7090673" y="5576429"/>
            <a:ext cx="74592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代码导读.md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1123807" y="5576429"/>
            <a:ext cx="54015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代码结构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7022082" y="5885087"/>
            <a:ext cx="4647021" cy="308658"/>
          </a:xfrm>
          <a:custGeom>
            <a:avLst/>
            <a:gdLst/>
            <a:ahLst/>
            <a:cxnLst/>
            <a:rect l="l" t="t" r="r" b="b"/>
            <a:pathLst>
              <a:path w="4647021" h="308658">
                <a:moveTo>
                  <a:pt x="34295" y="0"/>
                </a:moveTo>
                <a:lnTo>
                  <a:pt x="4612726" y="0"/>
                </a:lnTo>
                <a:cubicBezTo>
                  <a:pt x="4631667" y="0"/>
                  <a:pt x="4647021" y="15354"/>
                  <a:pt x="4647021" y="34295"/>
                </a:cubicBezTo>
                <a:lnTo>
                  <a:pt x="4647021" y="274363"/>
                </a:lnTo>
                <a:cubicBezTo>
                  <a:pt x="4647021" y="293304"/>
                  <a:pt x="4631667" y="308658"/>
                  <a:pt x="4612726" y="308658"/>
                </a:cubicBezTo>
                <a:lnTo>
                  <a:pt x="34295" y="308658"/>
                </a:lnTo>
                <a:cubicBezTo>
                  <a:pt x="15367" y="308658"/>
                  <a:pt x="0" y="293291"/>
                  <a:pt x="0" y="274363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7090673" y="5953678"/>
            <a:ext cx="74592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实验指导.md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123807" y="5953678"/>
            <a:ext cx="54015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实验步骤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7022082" y="6300061"/>
            <a:ext cx="4647021" cy="6859"/>
          </a:xfrm>
          <a:custGeom>
            <a:avLst/>
            <a:gdLst/>
            <a:ahLst/>
            <a:cxnLst/>
            <a:rect l="l" t="t" r="r" b="b"/>
            <a:pathLst>
              <a:path w="4647021" h="6859">
                <a:moveTo>
                  <a:pt x="0" y="0"/>
                </a:moveTo>
                <a:lnTo>
                  <a:pt x="4647021" y="0"/>
                </a:lnTo>
                <a:lnTo>
                  <a:pt x="4647021" y="6859"/>
                </a:lnTo>
                <a:lnTo>
                  <a:pt x="0" y="6859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7022082" y="6440561"/>
            <a:ext cx="75449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注释覆盖率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1164855" y="6406375"/>
            <a:ext cx="608743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85719f68af1f4e753659021aac54a22349f44f5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406" b="140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D8C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 &amp; FUTURE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测试验证与未来展望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299210"/>
            <a:ext cx="6275070" cy="3141345"/>
          </a:xfrm>
          <a:custGeom>
            <a:avLst/>
            <a:gdLst/>
            <a:ahLst/>
            <a:cxnLst/>
            <a:rect l="l" t="t" r="r" b="b"/>
            <a:pathLst>
              <a:path w="6275070" h="3141345">
                <a:moveTo>
                  <a:pt x="76209" y="0"/>
                </a:moveTo>
                <a:lnTo>
                  <a:pt x="6198861" y="0"/>
                </a:lnTo>
                <a:cubicBezTo>
                  <a:pt x="6240950" y="0"/>
                  <a:pt x="6275070" y="34120"/>
                  <a:pt x="6275070" y="76209"/>
                </a:cubicBezTo>
                <a:lnTo>
                  <a:pt x="6275070" y="3065136"/>
                </a:lnTo>
                <a:cubicBezTo>
                  <a:pt x="6275070" y="3107225"/>
                  <a:pt x="6240950" y="3141345"/>
                  <a:pt x="6198861" y="3141345"/>
                </a:cubicBezTo>
                <a:lnTo>
                  <a:pt x="76209" y="3141345"/>
                </a:lnTo>
                <a:cubicBezTo>
                  <a:pt x="34120" y="3141345"/>
                  <a:pt x="0" y="3107225"/>
                  <a:pt x="0" y="3065136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2932" y="15316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8" name="Text 5"/>
          <p:cNvSpPr/>
          <p:nvPr/>
        </p:nvSpPr>
        <p:spPr>
          <a:xfrm>
            <a:off x="931545" y="149351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已测试场景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2930" y="1916428"/>
            <a:ext cx="2884170" cy="693420"/>
          </a:xfrm>
          <a:custGeom>
            <a:avLst/>
            <a:gdLst/>
            <a:ahLst/>
            <a:cxnLst/>
            <a:rect l="l" t="t" r="r" b="b"/>
            <a:pathLst>
              <a:path w="2884170" h="6934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617220"/>
                </a:lnTo>
                <a:cubicBezTo>
                  <a:pt x="2884170" y="659304"/>
                  <a:pt x="2850054" y="693420"/>
                  <a:pt x="28079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20090" y="20726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1" name="Text 8"/>
          <p:cNvSpPr/>
          <p:nvPr/>
        </p:nvSpPr>
        <p:spPr>
          <a:xfrm>
            <a:off x="967740" y="203454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1040" y="2339346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单/多进程、状态转换、调度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585210" y="1916428"/>
            <a:ext cx="2884170" cy="693420"/>
          </a:xfrm>
          <a:custGeom>
            <a:avLst/>
            <a:gdLst/>
            <a:ahLst/>
            <a:cxnLst/>
            <a:rect l="l" t="t" r="r" b="b"/>
            <a:pathLst>
              <a:path w="2884170" h="6934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617220"/>
                </a:lnTo>
                <a:cubicBezTo>
                  <a:pt x="2884170" y="659304"/>
                  <a:pt x="2850054" y="693420"/>
                  <a:pt x="28079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722370" y="20726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2"/>
          <p:cNvSpPr/>
          <p:nvPr/>
        </p:nvSpPr>
        <p:spPr>
          <a:xfrm>
            <a:off x="3970020" y="203454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03320" y="2339346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地址转换、缺页、Clock置换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2930" y="2731653"/>
            <a:ext cx="2884170" cy="693420"/>
          </a:xfrm>
          <a:custGeom>
            <a:avLst/>
            <a:gdLst/>
            <a:ahLst/>
            <a:cxnLst/>
            <a:rect l="l" t="t" r="r" b="b"/>
            <a:pathLst>
              <a:path w="2884170" h="6934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617220"/>
                </a:lnTo>
                <a:cubicBezTo>
                  <a:pt x="2884170" y="659304"/>
                  <a:pt x="2850054" y="693420"/>
                  <a:pt x="28079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0090" y="28878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9" name="Text 16"/>
          <p:cNvSpPr/>
          <p:nvPr/>
        </p:nvSpPr>
        <p:spPr>
          <a:xfrm>
            <a:off x="967740" y="284976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1040" y="3154561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格式化、挂载、位图操作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85210" y="2731653"/>
            <a:ext cx="2884170" cy="693420"/>
          </a:xfrm>
          <a:custGeom>
            <a:avLst/>
            <a:gdLst/>
            <a:ahLst/>
            <a:cxnLst/>
            <a:rect l="l" t="t" r="r" b="b"/>
            <a:pathLst>
              <a:path w="2884170" h="693420">
                <a:moveTo>
                  <a:pt x="76200" y="0"/>
                </a:moveTo>
                <a:lnTo>
                  <a:pt x="2807970" y="0"/>
                </a:lnTo>
                <a:cubicBezTo>
                  <a:pt x="2850054" y="0"/>
                  <a:pt x="2884170" y="34116"/>
                  <a:pt x="2884170" y="76200"/>
                </a:cubicBezTo>
                <a:lnTo>
                  <a:pt x="2884170" y="617220"/>
                </a:lnTo>
                <a:cubicBezTo>
                  <a:pt x="2884170" y="659304"/>
                  <a:pt x="2850054" y="693420"/>
                  <a:pt x="2807970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722370" y="28878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3" name="Text 20"/>
          <p:cNvSpPr/>
          <p:nvPr/>
        </p:nvSpPr>
        <p:spPr>
          <a:xfrm>
            <a:off x="3970020" y="284976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设备管理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703320" y="3154561"/>
            <a:ext cx="2705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磁盘读写、持久化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2930" y="3546877"/>
            <a:ext cx="5884545" cy="693420"/>
          </a:xfrm>
          <a:custGeom>
            <a:avLst/>
            <a:gdLst/>
            <a:ahLst/>
            <a:cxnLst/>
            <a:rect l="l" t="t" r="r" b="b"/>
            <a:pathLst>
              <a:path w="5884545" h="693420">
                <a:moveTo>
                  <a:pt x="76200" y="0"/>
                </a:moveTo>
                <a:lnTo>
                  <a:pt x="5808345" y="0"/>
                </a:lnTo>
                <a:cubicBezTo>
                  <a:pt x="5850429" y="0"/>
                  <a:pt x="5884545" y="34116"/>
                  <a:pt x="5884545" y="76200"/>
                </a:cubicBezTo>
                <a:lnTo>
                  <a:pt x="5884545" y="617220"/>
                </a:lnTo>
                <a:cubicBezTo>
                  <a:pt x="5884545" y="659304"/>
                  <a:pt x="5850429" y="693420"/>
                  <a:pt x="5808345" y="693420"/>
                </a:cubicBezTo>
                <a:lnTo>
                  <a:pt x="76200" y="693420"/>
                </a:lnTo>
                <a:cubicBezTo>
                  <a:pt x="34144" y="693420"/>
                  <a:pt x="0" y="659276"/>
                  <a:pt x="0" y="6172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0090" y="370308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7" name="Text 24"/>
          <p:cNvSpPr/>
          <p:nvPr/>
        </p:nvSpPr>
        <p:spPr>
          <a:xfrm>
            <a:off x="967740" y="3664986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交互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01040" y="3969786"/>
            <a:ext cx="5705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A9B4C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15+ 命令、脚本执行、错误处理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84810" y="4598311"/>
            <a:ext cx="6275070" cy="1874520"/>
          </a:xfrm>
          <a:custGeom>
            <a:avLst/>
            <a:gdLst/>
            <a:ahLst/>
            <a:cxnLst/>
            <a:rect l="l" t="t" r="r" b="b"/>
            <a:pathLst>
              <a:path w="6275070" h="1874520">
                <a:moveTo>
                  <a:pt x="76199" y="0"/>
                </a:moveTo>
                <a:lnTo>
                  <a:pt x="6198871" y="0"/>
                </a:lnTo>
                <a:cubicBezTo>
                  <a:pt x="6240954" y="0"/>
                  <a:pt x="6275070" y="34116"/>
                  <a:pt x="6275070" y="76199"/>
                </a:cubicBezTo>
                <a:lnTo>
                  <a:pt x="6275070" y="1798321"/>
                </a:lnTo>
                <a:cubicBezTo>
                  <a:pt x="6275070" y="1840404"/>
                  <a:pt x="6240954" y="1874520"/>
                  <a:pt x="6198871" y="1874520"/>
                </a:cubicBezTo>
                <a:lnTo>
                  <a:pt x="76199" y="1874520"/>
                </a:lnTo>
                <a:cubicBezTo>
                  <a:pt x="34116" y="1874520"/>
                  <a:pt x="0" y="1840404"/>
                  <a:pt x="0" y="17983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2932" y="483072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1" name="Text 28"/>
          <p:cNvSpPr/>
          <p:nvPr/>
        </p:nvSpPr>
        <p:spPr>
          <a:xfrm>
            <a:off x="931545" y="4792628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2930" y="5215538"/>
            <a:ext cx="1884045" cy="731520"/>
          </a:xfrm>
          <a:custGeom>
            <a:avLst/>
            <a:gdLst/>
            <a:ahLst/>
            <a:cxnLst/>
            <a:rect l="l" t="t" r="r" b="b"/>
            <a:pathLst>
              <a:path w="1884045" h="731520">
                <a:moveTo>
                  <a:pt x="76202" y="0"/>
                </a:moveTo>
                <a:lnTo>
                  <a:pt x="1807843" y="0"/>
                </a:lnTo>
                <a:cubicBezTo>
                  <a:pt x="1849928" y="0"/>
                  <a:pt x="1884045" y="34117"/>
                  <a:pt x="1884045" y="76202"/>
                </a:cubicBezTo>
                <a:lnTo>
                  <a:pt x="1884045" y="655318"/>
                </a:lnTo>
                <a:cubicBezTo>
                  <a:pt x="1884045" y="697403"/>
                  <a:pt x="1849928" y="731520"/>
                  <a:pt x="18078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643890" y="5333647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10-20%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2465" y="5676426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缺页率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2584371" y="5215538"/>
            <a:ext cx="1884045" cy="731520"/>
          </a:xfrm>
          <a:custGeom>
            <a:avLst/>
            <a:gdLst/>
            <a:ahLst/>
            <a:cxnLst/>
            <a:rect l="l" t="t" r="r" b="b"/>
            <a:pathLst>
              <a:path w="1884045" h="731520">
                <a:moveTo>
                  <a:pt x="76202" y="0"/>
                </a:moveTo>
                <a:lnTo>
                  <a:pt x="1807843" y="0"/>
                </a:lnTo>
                <a:cubicBezTo>
                  <a:pt x="1849928" y="0"/>
                  <a:pt x="1884045" y="34117"/>
                  <a:pt x="1884045" y="76202"/>
                </a:cubicBezTo>
                <a:lnTo>
                  <a:pt x="1884045" y="655318"/>
                </a:lnTo>
                <a:cubicBezTo>
                  <a:pt x="1884045" y="697403"/>
                  <a:pt x="1849928" y="731520"/>
                  <a:pt x="18078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2645331" y="5333647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2673906" y="5676426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页表查找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585930" y="5215538"/>
            <a:ext cx="1884045" cy="731520"/>
          </a:xfrm>
          <a:custGeom>
            <a:avLst/>
            <a:gdLst/>
            <a:ahLst/>
            <a:cxnLst/>
            <a:rect l="l" t="t" r="r" b="b"/>
            <a:pathLst>
              <a:path w="1884045" h="731520">
                <a:moveTo>
                  <a:pt x="76202" y="0"/>
                </a:moveTo>
                <a:lnTo>
                  <a:pt x="1807843" y="0"/>
                </a:lnTo>
                <a:cubicBezTo>
                  <a:pt x="1849928" y="0"/>
                  <a:pt x="1884045" y="34117"/>
                  <a:pt x="1884045" y="76202"/>
                </a:cubicBezTo>
                <a:lnTo>
                  <a:pt x="1884045" y="655318"/>
                </a:lnTo>
                <a:cubicBezTo>
                  <a:pt x="1884045" y="697403"/>
                  <a:pt x="1849928" y="731520"/>
                  <a:pt x="1807843" y="731520"/>
                </a:cubicBezTo>
                <a:lnTo>
                  <a:pt x="76202" y="731520"/>
                </a:lnTo>
                <a:cubicBezTo>
                  <a:pt x="34117" y="731520"/>
                  <a:pt x="0" y="697403"/>
                  <a:pt x="0" y="6553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46890" y="5333647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O(n)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675465" y="5676426"/>
            <a:ext cx="1704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Clock算法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899910" y="1299210"/>
            <a:ext cx="4903470" cy="5170170"/>
          </a:xfrm>
          <a:custGeom>
            <a:avLst/>
            <a:gdLst/>
            <a:ahLst/>
            <a:cxnLst/>
            <a:rect l="l" t="t" r="r" b="b"/>
            <a:pathLst>
              <a:path w="4903470" h="5170170">
                <a:moveTo>
                  <a:pt x="76200" y="0"/>
                </a:moveTo>
                <a:lnTo>
                  <a:pt x="4827270" y="0"/>
                </a:lnTo>
                <a:cubicBezTo>
                  <a:pt x="4869354" y="0"/>
                  <a:pt x="4903470" y="34116"/>
                  <a:pt x="4903470" y="76200"/>
                </a:cubicBezTo>
                <a:lnTo>
                  <a:pt x="4903470" y="5093970"/>
                </a:lnTo>
                <a:cubicBezTo>
                  <a:pt x="4903470" y="5136054"/>
                  <a:pt x="4869354" y="5170170"/>
                  <a:pt x="4827270" y="5170170"/>
                </a:cubicBezTo>
                <a:lnTo>
                  <a:pt x="76200" y="5170170"/>
                </a:lnTo>
                <a:cubicBezTo>
                  <a:pt x="34116" y="5170170"/>
                  <a:pt x="0" y="5136054"/>
                  <a:pt x="0" y="50939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D8C">
                  <a:alpha val="20000"/>
                </a:srgbClr>
              </a:gs>
              <a:gs pos="100000">
                <a:srgbClr val="4A6D8C">
                  <a:alpha val="5000"/>
                </a:srgbClr>
              </a:gs>
            </a:gsLst>
            <a:lin ang="2700000" scaled="1"/>
          </a:gradFill>
          <a:ln w="10160">
            <a:solidFill>
              <a:srgbClr val="4A6D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7118032" y="15316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3" name="Text 40"/>
          <p:cNvSpPr/>
          <p:nvPr/>
        </p:nvSpPr>
        <p:spPr>
          <a:xfrm>
            <a:off x="7446645" y="149351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待扩展功能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113270" y="19602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4848" y="9454"/>
                </a:moveTo>
                <a:cubicBezTo>
                  <a:pt x="37687" y="11434"/>
                  <a:pt x="38364" y="15340"/>
                  <a:pt x="36385" y="18153"/>
                </a:cubicBezTo>
                <a:lnTo>
                  <a:pt x="21800" y="38989"/>
                </a:lnTo>
                <a:cubicBezTo>
                  <a:pt x="20732" y="40500"/>
                  <a:pt x="19065" y="41464"/>
                  <a:pt x="17216" y="41620"/>
                </a:cubicBezTo>
                <a:cubicBezTo>
                  <a:pt x="15367" y="41776"/>
                  <a:pt x="13543" y="41151"/>
                  <a:pt x="12241" y="39849"/>
                </a:cubicBezTo>
                <a:lnTo>
                  <a:pt x="1823" y="29431"/>
                </a:lnTo>
                <a:cubicBezTo>
                  <a:pt x="-599" y="26983"/>
                  <a:pt x="-599" y="23024"/>
                  <a:pt x="1823" y="20575"/>
                </a:cubicBezTo>
                <a:cubicBezTo>
                  <a:pt x="4245" y="18127"/>
                  <a:pt x="8230" y="18153"/>
                  <a:pt x="10678" y="20575"/>
                </a:cubicBezTo>
                <a:lnTo>
                  <a:pt x="15835" y="25732"/>
                </a:lnTo>
                <a:lnTo>
                  <a:pt x="26149" y="10991"/>
                </a:lnTo>
                <a:cubicBezTo>
                  <a:pt x="28129" y="8152"/>
                  <a:pt x="32035" y="7475"/>
                  <a:pt x="34848" y="9454"/>
                </a:cubicBezTo>
                <a:close/>
                <a:moveTo>
                  <a:pt x="34848" y="51126"/>
                </a:moveTo>
                <a:cubicBezTo>
                  <a:pt x="37687" y="53106"/>
                  <a:pt x="38364" y="57012"/>
                  <a:pt x="36385" y="59825"/>
                </a:cubicBezTo>
                <a:lnTo>
                  <a:pt x="21800" y="80661"/>
                </a:lnTo>
                <a:cubicBezTo>
                  <a:pt x="20732" y="82172"/>
                  <a:pt x="19065" y="83135"/>
                  <a:pt x="17216" y="83292"/>
                </a:cubicBezTo>
                <a:cubicBezTo>
                  <a:pt x="15367" y="83448"/>
                  <a:pt x="13543" y="82823"/>
                  <a:pt x="12241" y="81521"/>
                </a:cubicBezTo>
                <a:lnTo>
                  <a:pt x="1823" y="71103"/>
                </a:lnTo>
                <a:cubicBezTo>
                  <a:pt x="-625" y="68654"/>
                  <a:pt x="-625" y="64696"/>
                  <a:pt x="1823" y="62273"/>
                </a:cubicBezTo>
                <a:cubicBezTo>
                  <a:pt x="4271" y="59851"/>
                  <a:pt x="8230" y="59825"/>
                  <a:pt x="10652" y="62273"/>
                </a:cubicBezTo>
                <a:lnTo>
                  <a:pt x="15809" y="67430"/>
                </a:lnTo>
                <a:lnTo>
                  <a:pt x="26123" y="52689"/>
                </a:lnTo>
                <a:cubicBezTo>
                  <a:pt x="28102" y="49850"/>
                  <a:pt x="32009" y="49173"/>
                  <a:pt x="34822" y="51152"/>
                </a:cubicBezTo>
                <a:close/>
                <a:moveTo>
                  <a:pt x="58341" y="25003"/>
                </a:moveTo>
                <a:cubicBezTo>
                  <a:pt x="58341" y="20393"/>
                  <a:pt x="62065" y="16669"/>
                  <a:pt x="66675" y="16669"/>
                </a:cubicBezTo>
                <a:lnTo>
                  <a:pt x="125016" y="16669"/>
                </a:lnTo>
                <a:cubicBezTo>
                  <a:pt x="129626" y="16669"/>
                  <a:pt x="133350" y="20393"/>
                  <a:pt x="133350" y="25003"/>
                </a:cubicBezTo>
                <a:cubicBezTo>
                  <a:pt x="133350" y="29613"/>
                  <a:pt x="129626" y="33337"/>
                  <a:pt x="125016" y="33337"/>
                </a:cubicBezTo>
                <a:lnTo>
                  <a:pt x="66675" y="33337"/>
                </a:lnTo>
                <a:cubicBezTo>
                  <a:pt x="62065" y="33337"/>
                  <a:pt x="58341" y="29613"/>
                  <a:pt x="58341" y="25003"/>
                </a:cubicBezTo>
                <a:close/>
                <a:moveTo>
                  <a:pt x="58341" y="66675"/>
                </a:moveTo>
                <a:cubicBezTo>
                  <a:pt x="58341" y="62065"/>
                  <a:pt x="62065" y="58341"/>
                  <a:pt x="66675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66675" y="75009"/>
                </a:lnTo>
                <a:cubicBezTo>
                  <a:pt x="62065" y="75009"/>
                  <a:pt x="58341" y="71285"/>
                  <a:pt x="58341" y="66675"/>
                </a:cubicBezTo>
                <a:close/>
                <a:moveTo>
                  <a:pt x="41672" y="108347"/>
                </a:moveTo>
                <a:cubicBezTo>
                  <a:pt x="41672" y="103737"/>
                  <a:pt x="45396" y="100013"/>
                  <a:pt x="50006" y="100013"/>
                </a:cubicBez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0006" y="116681"/>
                </a:lnTo>
                <a:cubicBezTo>
                  <a:pt x="45396" y="116681"/>
                  <a:pt x="41672" y="112957"/>
                  <a:pt x="41672" y="108347"/>
                </a:cubicBezTo>
                <a:close/>
                <a:moveTo>
                  <a:pt x="16669" y="97929"/>
                </a:moveTo>
                <a:cubicBezTo>
                  <a:pt x="22419" y="97929"/>
                  <a:pt x="27087" y="102597"/>
                  <a:pt x="27087" y="108347"/>
                </a:cubicBezTo>
                <a:cubicBezTo>
                  <a:pt x="27087" y="114097"/>
                  <a:pt x="22419" y="118765"/>
                  <a:pt x="16669" y="118765"/>
                </a:cubicBezTo>
                <a:cubicBezTo>
                  <a:pt x="10919" y="118765"/>
                  <a:pt x="6251" y="114097"/>
                  <a:pt x="6251" y="108347"/>
                </a:cubicBezTo>
                <a:cubicBezTo>
                  <a:pt x="6251" y="102597"/>
                  <a:pt x="10919" y="97929"/>
                  <a:pt x="16669" y="9792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5" name="Text 42"/>
          <p:cNvSpPr/>
          <p:nvPr/>
        </p:nvSpPr>
        <p:spPr>
          <a:xfrm>
            <a:off x="7265670" y="1912618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进程管理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098030" y="2221228"/>
            <a:ext cx="731520" cy="236220"/>
          </a:xfrm>
          <a:custGeom>
            <a:avLst/>
            <a:gdLst/>
            <a:ahLst/>
            <a:cxnLst/>
            <a:rect l="l" t="t" r="r" b="b"/>
            <a:pathLst>
              <a:path w="731520" h="236220">
                <a:moveTo>
                  <a:pt x="38100" y="0"/>
                </a:moveTo>
                <a:lnTo>
                  <a:pt x="693420" y="0"/>
                </a:lnTo>
                <a:cubicBezTo>
                  <a:pt x="714462" y="0"/>
                  <a:pt x="731520" y="17058"/>
                  <a:pt x="731520" y="38100"/>
                </a:cubicBezTo>
                <a:lnTo>
                  <a:pt x="731520" y="198120"/>
                </a:lnTo>
                <a:cubicBezTo>
                  <a:pt x="731520" y="219162"/>
                  <a:pt x="714462" y="236220"/>
                  <a:pt x="6934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94220" y="2217418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优先级调度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913370" y="2221228"/>
            <a:ext cx="569595" cy="236220"/>
          </a:xfrm>
          <a:custGeom>
            <a:avLst/>
            <a:gdLst/>
            <a:ahLst/>
            <a:cxnLst/>
            <a:rect l="l" t="t" r="r" b="b"/>
            <a:pathLst>
              <a:path w="569595" h="236220">
                <a:moveTo>
                  <a:pt x="38100" y="0"/>
                </a:moveTo>
                <a:lnTo>
                  <a:pt x="531495" y="0"/>
                </a:lnTo>
                <a:cubicBezTo>
                  <a:pt x="552537" y="0"/>
                  <a:pt x="569595" y="17058"/>
                  <a:pt x="569595" y="38100"/>
                </a:cubicBezTo>
                <a:lnTo>
                  <a:pt x="569595" y="198120"/>
                </a:lnTo>
                <a:cubicBezTo>
                  <a:pt x="569595" y="219162"/>
                  <a:pt x="552537" y="236220"/>
                  <a:pt x="531495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09560" y="2217418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IPC机制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63213" y="2221228"/>
            <a:ext cx="502920" cy="236220"/>
          </a:xfrm>
          <a:custGeom>
            <a:avLst/>
            <a:gdLst/>
            <a:ahLst/>
            <a:cxnLst/>
            <a:rect l="l" t="t" r="r" b="b"/>
            <a:pathLst>
              <a:path w="502920" h="236220">
                <a:moveTo>
                  <a:pt x="38100" y="0"/>
                </a:moveTo>
                <a:lnTo>
                  <a:pt x="464820" y="0"/>
                </a:lnTo>
                <a:cubicBezTo>
                  <a:pt x="485862" y="0"/>
                  <a:pt x="502920" y="17058"/>
                  <a:pt x="502920" y="38100"/>
                </a:cubicBezTo>
                <a:lnTo>
                  <a:pt x="502920" y="198120"/>
                </a:lnTo>
                <a:cubicBezTo>
                  <a:pt x="502920" y="219162"/>
                  <a:pt x="485862" y="236220"/>
                  <a:pt x="4648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59403" y="2217418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多线程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149953" y="2221228"/>
            <a:ext cx="502920" cy="236220"/>
          </a:xfrm>
          <a:custGeom>
            <a:avLst/>
            <a:gdLst/>
            <a:ahLst/>
            <a:cxnLst/>
            <a:rect l="l" t="t" r="r" b="b"/>
            <a:pathLst>
              <a:path w="502920" h="236220">
                <a:moveTo>
                  <a:pt x="38100" y="0"/>
                </a:moveTo>
                <a:lnTo>
                  <a:pt x="464820" y="0"/>
                </a:lnTo>
                <a:cubicBezTo>
                  <a:pt x="485862" y="0"/>
                  <a:pt x="502920" y="17058"/>
                  <a:pt x="502920" y="38100"/>
                </a:cubicBezTo>
                <a:lnTo>
                  <a:pt x="502920" y="198120"/>
                </a:lnTo>
                <a:cubicBezTo>
                  <a:pt x="502920" y="219162"/>
                  <a:pt x="485862" y="236220"/>
                  <a:pt x="4648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146143" y="2217418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信号量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7113270" y="262306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5" name="Text 52"/>
          <p:cNvSpPr/>
          <p:nvPr/>
        </p:nvSpPr>
        <p:spPr>
          <a:xfrm>
            <a:off x="7265670" y="2575443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098030" y="2884053"/>
            <a:ext cx="664845" cy="236220"/>
          </a:xfrm>
          <a:custGeom>
            <a:avLst/>
            <a:gdLst/>
            <a:ahLst/>
            <a:cxnLst/>
            <a:rect l="l" t="t" r="r" b="b"/>
            <a:pathLst>
              <a:path w="664845" h="236220">
                <a:moveTo>
                  <a:pt x="38100" y="0"/>
                </a:moveTo>
                <a:lnTo>
                  <a:pt x="626745" y="0"/>
                </a:lnTo>
                <a:cubicBezTo>
                  <a:pt x="647787" y="0"/>
                  <a:pt x="664845" y="17058"/>
                  <a:pt x="664845" y="38100"/>
                </a:cubicBezTo>
                <a:lnTo>
                  <a:pt x="664845" y="198120"/>
                </a:lnTo>
                <a:cubicBezTo>
                  <a:pt x="664845" y="219162"/>
                  <a:pt x="647787" y="236220"/>
                  <a:pt x="626745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94220" y="2880243"/>
            <a:ext cx="7143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LRU/FIFO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848957" y="2884053"/>
            <a:ext cx="731520" cy="236220"/>
          </a:xfrm>
          <a:custGeom>
            <a:avLst/>
            <a:gdLst/>
            <a:ahLst/>
            <a:cxnLst/>
            <a:rect l="l" t="t" r="r" b="b"/>
            <a:pathLst>
              <a:path w="731520" h="236220">
                <a:moveTo>
                  <a:pt x="38100" y="0"/>
                </a:moveTo>
                <a:lnTo>
                  <a:pt x="693420" y="0"/>
                </a:lnTo>
                <a:cubicBezTo>
                  <a:pt x="714462" y="0"/>
                  <a:pt x="731520" y="17058"/>
                  <a:pt x="731520" y="38100"/>
                </a:cubicBezTo>
                <a:lnTo>
                  <a:pt x="731520" y="198120"/>
                </a:lnTo>
                <a:cubicBezTo>
                  <a:pt x="731520" y="219162"/>
                  <a:pt x="714462" y="236220"/>
                  <a:pt x="6934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845147" y="288024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工作集模型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664297" y="2884053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660487" y="288024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内存共享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9365337" y="2884053"/>
            <a:ext cx="436245" cy="236220"/>
          </a:xfrm>
          <a:custGeom>
            <a:avLst/>
            <a:gdLst/>
            <a:ahLst/>
            <a:cxnLst/>
            <a:rect l="l" t="t" r="r" b="b"/>
            <a:pathLst>
              <a:path w="436245" h="236220">
                <a:moveTo>
                  <a:pt x="38100" y="0"/>
                </a:moveTo>
                <a:lnTo>
                  <a:pt x="398145" y="0"/>
                </a:lnTo>
                <a:cubicBezTo>
                  <a:pt x="419187" y="0"/>
                  <a:pt x="436245" y="17058"/>
                  <a:pt x="436245" y="38100"/>
                </a:cubicBezTo>
                <a:lnTo>
                  <a:pt x="436245" y="198120"/>
                </a:lnTo>
                <a:cubicBezTo>
                  <a:pt x="436245" y="219162"/>
                  <a:pt x="419187" y="236220"/>
                  <a:pt x="398145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361527" y="2880243"/>
            <a:ext cx="485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104936" y="3285892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585" y="58757"/>
                </a:moveTo>
                <a:lnTo>
                  <a:pt x="8439" y="77145"/>
                </a:lnTo>
                <a:lnTo>
                  <a:pt x="8439" y="25003"/>
                </a:lnTo>
                <a:cubicBezTo>
                  <a:pt x="8439" y="15809"/>
                  <a:pt x="15913" y="8334"/>
                  <a:pt x="25107" y="8334"/>
                </a:cubicBezTo>
                <a:lnTo>
                  <a:pt x="61232" y="8334"/>
                </a:lnTo>
                <a:cubicBezTo>
                  <a:pt x="64826" y="8334"/>
                  <a:pt x="68342" y="9506"/>
                  <a:pt x="71233" y="11668"/>
                </a:cubicBezTo>
                <a:lnTo>
                  <a:pt x="81234" y="19169"/>
                </a:lnTo>
                <a:cubicBezTo>
                  <a:pt x="82667" y="20263"/>
                  <a:pt x="84438" y="20836"/>
                  <a:pt x="86235" y="20836"/>
                </a:cubicBezTo>
                <a:lnTo>
                  <a:pt x="116785" y="20836"/>
                </a:lnTo>
                <a:cubicBezTo>
                  <a:pt x="125979" y="20836"/>
                  <a:pt x="133454" y="28311"/>
                  <a:pt x="133454" y="37505"/>
                </a:cubicBezTo>
                <a:lnTo>
                  <a:pt x="133454" y="41672"/>
                </a:lnTo>
                <a:lnTo>
                  <a:pt x="38286" y="41672"/>
                </a:lnTo>
                <a:cubicBezTo>
                  <a:pt x="27529" y="41672"/>
                  <a:pt x="17971" y="48548"/>
                  <a:pt x="14559" y="58757"/>
                </a:cubicBezTo>
                <a:close/>
                <a:moveTo>
                  <a:pt x="124443" y="116681"/>
                </a:moveTo>
                <a:lnTo>
                  <a:pt x="25784" y="116681"/>
                </a:lnTo>
                <a:cubicBezTo>
                  <a:pt x="17242" y="116681"/>
                  <a:pt x="11225" y="108321"/>
                  <a:pt x="13934" y="100221"/>
                </a:cubicBezTo>
                <a:lnTo>
                  <a:pt x="26436" y="62716"/>
                </a:lnTo>
                <a:cubicBezTo>
                  <a:pt x="28129" y="57611"/>
                  <a:pt x="32921" y="54173"/>
                  <a:pt x="38286" y="54173"/>
                </a:cubicBezTo>
                <a:lnTo>
                  <a:pt x="136944" y="54173"/>
                </a:lnTo>
                <a:cubicBezTo>
                  <a:pt x="145487" y="54173"/>
                  <a:pt x="151503" y="62534"/>
                  <a:pt x="148795" y="70634"/>
                </a:cubicBezTo>
                <a:lnTo>
                  <a:pt x="136293" y="108139"/>
                </a:lnTo>
                <a:cubicBezTo>
                  <a:pt x="134600" y="113243"/>
                  <a:pt x="129808" y="116681"/>
                  <a:pt x="124443" y="11668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5" name="Text 62"/>
          <p:cNvSpPr/>
          <p:nvPr/>
        </p:nvSpPr>
        <p:spPr>
          <a:xfrm>
            <a:off x="7265670" y="3238267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7098030" y="3546877"/>
            <a:ext cx="788670" cy="236220"/>
          </a:xfrm>
          <a:custGeom>
            <a:avLst/>
            <a:gdLst/>
            <a:ahLst/>
            <a:cxnLst/>
            <a:rect l="l" t="t" r="r" b="b"/>
            <a:pathLst>
              <a:path w="788670" h="236220">
                <a:moveTo>
                  <a:pt x="38100" y="0"/>
                </a:moveTo>
                <a:lnTo>
                  <a:pt x="750570" y="0"/>
                </a:lnTo>
                <a:cubicBezTo>
                  <a:pt x="771612" y="0"/>
                  <a:pt x="788670" y="17058"/>
                  <a:pt x="788670" y="38100"/>
                </a:cubicBezTo>
                <a:lnTo>
                  <a:pt x="788670" y="198120"/>
                </a:lnTo>
                <a:cubicBezTo>
                  <a:pt x="788670" y="219162"/>
                  <a:pt x="771612" y="236220"/>
                  <a:pt x="75057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094220" y="3543067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文件操作API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7972068" y="3546877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968258" y="3543067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多级目录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8673108" y="3546877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69298" y="3543067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权限管理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9374148" y="3546877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370338" y="3543067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日志系统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7113270" y="394870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448" y="30889"/>
                </a:moveTo>
                <a:cubicBezTo>
                  <a:pt x="-807" y="27634"/>
                  <a:pt x="-807" y="22347"/>
                  <a:pt x="2448" y="19091"/>
                </a:cubicBezTo>
                <a:cubicBezTo>
                  <a:pt x="5704" y="15835"/>
                  <a:pt x="10991" y="15835"/>
                  <a:pt x="14247" y="19091"/>
                </a:cubicBezTo>
                <a:lnTo>
                  <a:pt x="55918" y="60763"/>
                </a:lnTo>
                <a:cubicBezTo>
                  <a:pt x="59174" y="64018"/>
                  <a:pt x="59174" y="69306"/>
                  <a:pt x="55918" y="72561"/>
                </a:cubicBezTo>
                <a:lnTo>
                  <a:pt x="14247" y="114233"/>
                </a:lnTo>
                <a:cubicBezTo>
                  <a:pt x="10991" y="117489"/>
                  <a:pt x="5704" y="117489"/>
                  <a:pt x="2448" y="114233"/>
                </a:cubicBezTo>
                <a:cubicBezTo>
                  <a:pt x="-807" y="110977"/>
                  <a:pt x="-807" y="105690"/>
                  <a:pt x="2448" y="102435"/>
                </a:cubicBezTo>
                <a:lnTo>
                  <a:pt x="38208" y="66675"/>
                </a:lnTo>
                <a:lnTo>
                  <a:pt x="2448" y="30889"/>
                </a:lnTo>
                <a:close/>
                <a:moveTo>
                  <a:pt x="58341" y="100013"/>
                </a:moveTo>
                <a:lnTo>
                  <a:pt x="125016" y="100013"/>
                </a:lnTo>
                <a:cubicBezTo>
                  <a:pt x="129626" y="100013"/>
                  <a:pt x="133350" y="103737"/>
                  <a:pt x="133350" y="108347"/>
                </a:cubicBezTo>
                <a:cubicBezTo>
                  <a:pt x="133350" y="112957"/>
                  <a:pt x="129626" y="116681"/>
                  <a:pt x="125016" y="116681"/>
                </a:cubicBezTo>
                <a:lnTo>
                  <a:pt x="58341" y="116681"/>
                </a:lnTo>
                <a:cubicBezTo>
                  <a:pt x="53731" y="116681"/>
                  <a:pt x="50006" y="112957"/>
                  <a:pt x="50006" y="108347"/>
                </a:cubicBezTo>
                <a:cubicBezTo>
                  <a:pt x="50006" y="103737"/>
                  <a:pt x="53731" y="100013"/>
                  <a:pt x="58341" y="100013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75" name="Text 72"/>
          <p:cNvSpPr/>
          <p:nvPr/>
        </p:nvSpPr>
        <p:spPr>
          <a:xfrm>
            <a:off x="7265670" y="3901083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Shell 扩展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7098030" y="4209693"/>
            <a:ext cx="731520" cy="236220"/>
          </a:xfrm>
          <a:custGeom>
            <a:avLst/>
            <a:gdLst/>
            <a:ahLst/>
            <a:cxnLst/>
            <a:rect l="l" t="t" r="r" b="b"/>
            <a:pathLst>
              <a:path w="731520" h="236220">
                <a:moveTo>
                  <a:pt x="38100" y="0"/>
                </a:moveTo>
                <a:lnTo>
                  <a:pt x="693420" y="0"/>
                </a:lnTo>
                <a:cubicBezTo>
                  <a:pt x="714462" y="0"/>
                  <a:pt x="731520" y="17058"/>
                  <a:pt x="731520" y="38100"/>
                </a:cubicBezTo>
                <a:lnTo>
                  <a:pt x="731520" y="198120"/>
                </a:lnTo>
                <a:cubicBezTo>
                  <a:pt x="731520" y="219162"/>
                  <a:pt x="714462" y="236220"/>
                  <a:pt x="6934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094220" y="4205883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管道重定向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7913370" y="4209693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909560" y="420588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后台进程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8614410" y="4209693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610600" y="420588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自动补全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9315450" y="4209693"/>
            <a:ext cx="617220" cy="236220"/>
          </a:xfrm>
          <a:custGeom>
            <a:avLst/>
            <a:gdLst/>
            <a:ahLst/>
            <a:cxnLst/>
            <a:rect l="l" t="t" r="r" b="b"/>
            <a:pathLst>
              <a:path w="617220" h="236220">
                <a:moveTo>
                  <a:pt x="38100" y="0"/>
                </a:moveTo>
                <a:lnTo>
                  <a:pt x="579120" y="0"/>
                </a:lnTo>
                <a:cubicBezTo>
                  <a:pt x="600162" y="0"/>
                  <a:pt x="617220" y="17058"/>
                  <a:pt x="617220" y="38100"/>
                </a:cubicBezTo>
                <a:lnTo>
                  <a:pt x="617220" y="198120"/>
                </a:lnTo>
                <a:cubicBezTo>
                  <a:pt x="617220" y="219162"/>
                  <a:pt x="600162" y="236220"/>
                  <a:pt x="579120" y="236220"/>
                </a:cubicBezTo>
                <a:lnTo>
                  <a:pt x="38100" y="236220"/>
                </a:lnTo>
                <a:cubicBezTo>
                  <a:pt x="17072" y="236220"/>
                  <a:pt x="0" y="219148"/>
                  <a:pt x="0" y="19812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0160">
            <a:solidFill>
              <a:srgbClr val="4A6D8C">
                <a:alpha val="30196"/>
              </a:srgbClr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311640" y="4205883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环境变量</a:t>
            </a:r>
            <a:endParaRPr lang="en-US" sz="1600" dirty="0"/>
          </a:p>
        </p:txBody>
      </p:sp>
      <p:sp>
        <p:nvSpPr>
          <p:cNvPr id="84" name="Shape 81"/>
          <p:cNvSpPr/>
          <p:nvPr/>
        </p:nvSpPr>
        <p:spPr>
          <a:xfrm>
            <a:off x="7094220" y="4605817"/>
            <a:ext cx="4514850" cy="7620"/>
          </a:xfrm>
          <a:custGeom>
            <a:avLst/>
            <a:gdLst/>
            <a:ahLst/>
            <a:cxnLst/>
            <a:rect l="l" t="t" r="r" b="b"/>
            <a:pathLst>
              <a:path w="4514850" h="7620">
                <a:moveTo>
                  <a:pt x="0" y="0"/>
                </a:moveTo>
                <a:lnTo>
                  <a:pt x="4514850" y="0"/>
                </a:lnTo>
                <a:lnTo>
                  <a:pt x="45148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30196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7113270" y="479250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86" name="Text 83"/>
          <p:cNvSpPr/>
          <p:nvPr/>
        </p:nvSpPr>
        <p:spPr>
          <a:xfrm>
            <a:off x="7322820" y="4762026"/>
            <a:ext cx="4352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当前限制：单 CPU、无中断（轮询）、无 DMA、固定内存（256KB）。这些简化设计聚焦于核心概念的理解。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965</Words>
  <Application>Microsoft Office PowerPoint</Application>
  <PresentationFormat>宽屏</PresentationFormat>
  <Paragraphs>333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Hedvig Letters Sans</vt:lpstr>
      <vt:lpstr>MiSans</vt:lpstr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Tinix OS Simulator 中期答辩</dc:title>
  <dc:subject>Tinix OS Simulator 中期答辩</dc:subject>
  <dc:creator>Kimi</dc:creator>
  <cp:lastModifiedBy>金涛 张</cp:lastModifiedBy>
  <cp:revision>8</cp:revision>
  <dcterms:created xsi:type="dcterms:W3CDTF">2026-02-27T02:39:47Z</dcterms:created>
  <dcterms:modified xsi:type="dcterms:W3CDTF">2026-02-28T07:29:11Z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{"Label":"Tinix OS Simulator 中期答辩","ContentProducer":"001191110108MACG2KBH8F10000","ProduceID":"19c9ce30-ea02-8e25-8000-000089e172af","ReservedCode1":"","ContentPropagator":"001191110108MACG2KBH8F20000","PropagateID":"19c9ce30-ea02-8e25-8000-000089e172af","ReservedCode2":""}</vt:lpwstr>
  </property>
</Properties>
</file>